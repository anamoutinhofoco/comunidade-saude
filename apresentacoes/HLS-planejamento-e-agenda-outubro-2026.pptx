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co · Marca (capa, divisor, encerramento)">
    <p:bg>
      <p:bgPr>
        <a:gradFill rotWithShape="1">
          <a:gsLst>
            <a:gs pos="0">
              <a:srgbClr val="02284F"/>
            </a:gs>
            <a:gs pos="45000">
              <a:srgbClr val="03376B"/>
            </a:gs>
            <a:gs pos="100000">
              <a:srgbClr val="0165BB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962656"/>
            <a:ext cx="9997440" cy="1524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4800" b="1">
                <a:solidFill>
                  <a:srgbClr val="FFFFFF"/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06112"/>
            <a:ext cx="8534400" cy="609600"/>
          </a:xfr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>
                <a:solidFill>
                  <a:srgbClr val="A9D2F7"/>
                </a:solidFill>
                <a:latin typeface="+mn-lt"/>
              </a:defRPr>
            </a:lvl1pPr>
          </a:lstStyle>
          <a:p>
            <a:endParaRPr lang="pt-BR"/>
          </a:p>
        </p:txBody>
      </p:sp>
      <p:pic>
        <p:nvPicPr>
          <p:cNvPr id="4" name="Símbolo (marca d’água)" descr=""/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7559040" y="746760"/>
            <a:ext cx="5364480" cy="5364480"/>
          </a:xfrm>
          <a:prstGeom prst="rect">
            <a:avLst/>
          </a:prstGeom>
        </p:spPr>
      </p:pic>
      <p:pic>
        <p:nvPicPr>
          <p:cNvPr id="5" name="foco group" descr="foco gro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0" y="6199632"/>
            <a:ext cx="1170651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co ·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975360"/>
            <a:ext cx="10668000" cy="53644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200" b="1">
                <a:solidFill>
                  <a:srgbClr val="03376B"/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3" name="Canto de marca"/>
          <p:cNvSpPr/>
          <p:nvPr userDrawn="1"/>
        </p:nvSpPr>
        <p:spPr>
          <a:xfrm>
            <a:off x="11338560" y="6004560"/>
            <a:ext cx="853440" cy="853440"/>
          </a:xfrm>
          <a:custGeom>
            <a:avLst/>
            <a:gdLst/>
            <a:ahLst/>
            <a:cxnLst/>
            <a:rect l="0" t="0" r="r" b="b"/>
            <a:pathLst>
              <a:path w="853440" h="853440">
                <a:moveTo>
                  <a:pt x="0" y="853440"/>
                </a:moveTo>
                <a:arcTo wR="853440" hR="853440" stAng="10800000" swAng="5400000"/>
                <a:lnTo>
                  <a:pt x="853440" y="853440"/>
                </a:lnTo>
                <a:close/>
              </a:path>
            </a:pathLst>
          </a:custGeom>
          <a:solidFill>
            <a:srgbClr val="0165BB"/>
          </a:solidFill>
          <a:ln>
            <a:noFill/>
          </a:ln>
        </p:spPr>
      </p:sp>
      <p:pic>
        <p:nvPicPr>
          <p:cNvPr id="4" name="Símbolo foco" descr="foc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0" y="6333744"/>
            <a:ext cx="231648" cy="231648"/>
          </a:xfrm>
          <a:prstGeom prst="rect">
            <a:avLst/>
          </a:prstGeom>
        </p:spPr>
      </p:pic>
      <p:sp>
        <p:nvSpPr>
          <p:cNvPr id="5" name="Número do slide"/>
          <p:cNvSpPr/>
          <p:nvPr userDrawn="1"/>
        </p:nvSpPr>
        <p:spPr>
          <a:xfrm>
            <a:off x="10119360" y="6333744"/>
            <a:ext cx="975360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fld id="{7B720125-BCDC-4D9D-8DDA-37A30D9C7DC3}" type="slidenum">
              <a:rPr lang="pt-BR" sz="900">
                <a:solidFill>
                  <a:srgbClr val="656C77"/>
                </a:solidFill>
                <a:latin typeface="Sora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975360"/>
            <a:ext cx="10668000" cy="53644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200" b="1">
                <a:solidFill>
                  <a:srgbClr val="03376B"/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2194560"/>
            <a:ext cx="10668000" cy="3657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rgbClr val="2E3238"/>
                </a:solidFill>
                <a:latin typeface="+mj-lt"/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HLS · Outubro de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Feed do Instagram de 02 a 30/10 e comunidades no WhatsApp de 05 a 31/10</a:t>
            </a:r>
          </a:p>
        </p:txBody>
      </p:sp>
      <p:sp>
        <p:nvSpPr>
          <p:cNvPr id="4" name="Rótulo"/>
          <p:cNvSpPr txBox="1"/>
          <p:nvPr/>
        </p:nvSpPr>
        <p:spPr>
          <a:xfrm>
            <a:off x="762000" y="2462784"/>
            <a:ext cx="8534400" cy="31699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8E7FA"/>
                </a:solidFill>
                <a:latin typeface="Montserrat Alternates"/>
              </a:rPr>
              <a:t>.planejamento e agenda de outubro</a:t>
            </a:r>
          </a:p>
        </p:txBody>
      </p:sp>
      <p:sp>
        <p:nvSpPr>
          <p:cNvPr id="5" name="Versão"/>
          <p:cNvSpPr txBox="1"/>
          <p:nvPr/>
        </p:nvSpPr>
        <p:spPr>
          <a:xfrm>
            <a:off x="6553200" y="6199632"/>
            <a:ext cx="4876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9D2F7"/>
                </a:solidFill>
                <a:latin typeface="Sora"/>
              </a:rPr>
              <a:t>Versão para validação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está neste material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.como funciona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359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Reunimos o planejamento e a agenda de outubro para a sua validação.</a:t>
            </a:r>
          </a:p>
        </p:txBody>
      </p:sp>
      <p:pic>
        <p:nvPicPr>
          <p:cNvPr id="5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6752"/>
            <a:ext cx="268224" cy="26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912" y="2188464"/>
            <a:ext cx="8827008" cy="5896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3376B"/>
                </a:solidFill>
                <a:latin typeface="Sora"/>
              </a:rPr>
              <a:t>Planejamento: </a:t>
            </a:r>
            <a:r>
              <a:rPr sz="1600" b="0" i="0">
                <a:solidFill>
                  <a:srgbClr val="03376B"/>
                </a:solidFill>
                <a:latin typeface="Sora"/>
              </a:rPr>
              <a:t>direção do mês, público, feed do Instagram, comunidades no WhatsApp, operação, medição e dependências.</a:t>
            </a:r>
          </a:p>
        </p:txBody>
      </p:sp>
      <p:pic>
        <p:nvPicPr>
          <p:cNvPr id="7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76773"/>
            <a:ext cx="268224" cy="268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912" y="3058485"/>
            <a:ext cx="8827008" cy="5896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3376B"/>
                </a:solidFill>
                <a:latin typeface="Sora"/>
              </a:rPr>
              <a:t>Agenda: </a:t>
            </a:r>
            <a:r>
              <a:rPr sz="1600" b="0" i="0">
                <a:solidFill>
                  <a:srgbClr val="03376B"/>
                </a:solidFill>
                <a:latin typeface="Sora"/>
              </a:rPr>
              <a:t>o mês e cada semana, com as publicações, os disparos, os checkpoints de métricas e as decisões com prazo.</a:t>
            </a:r>
          </a:p>
        </p:txBody>
      </p:sp>
      <p:pic>
        <p:nvPicPr>
          <p:cNvPr id="9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46794"/>
            <a:ext cx="268224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0912" y="3928506"/>
            <a:ext cx="8827008" cy="5896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3376B"/>
                </a:solidFill>
                <a:latin typeface="Sora"/>
              </a:rPr>
              <a:t>Anexos: </a:t>
            </a:r>
            <a:r>
              <a:rPr sz="1600" b="0" i="0">
                <a:solidFill>
                  <a:srgbClr val="03376B"/>
                </a:solidFill>
                <a:latin typeface="Sora"/>
              </a:rPr>
              <a:t>as legendas das 15 publicações e as mensagens dos 9 disparos, nas versões para Médicos e para Outras Especialidades.</a:t>
            </a:r>
          </a:p>
        </p:txBody>
      </p:sp>
      <p:pic>
        <p:nvPicPr>
          <p:cNvPr id="11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816815"/>
            <a:ext cx="268224" cy="268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0912" y="4798527"/>
            <a:ext cx="8827008" cy="5896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3376B"/>
                </a:solidFill>
                <a:latin typeface="Sora"/>
              </a:rPr>
              <a:t>Depois da validação, </a:t>
            </a:r>
            <a:r>
              <a:rPr sz="1600" b="0" i="0">
                <a:solidFill>
                  <a:srgbClr val="03376B"/>
                </a:solidFill>
                <a:latin typeface="Sora"/>
              </a:rPr>
              <a:t>seguimos o fluxo: revisão da copy, checagem técnica, teste dos links e agendamento por comunidade.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Gerar valor sem oferta no feed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.direção do mês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Outubro apresenta a HLS a profissionais da saúde, mostra o valor da troca entre pares e entrega conteúdo útil para decisões de gestão, experiência do paciente e avaliação de novidades.</a:t>
            </a:r>
          </a:p>
        </p:txBody>
      </p:sp>
      <p:sp>
        <p:nvSpPr>
          <p:cNvPr id="5" name="Objetivo do ciclo"/>
          <p:cNvSpPr/>
          <p:nvPr/>
        </p:nvSpPr>
        <p:spPr>
          <a:xfrm>
            <a:off x="762000" y="2365248"/>
            <a:ext cx="5145024" cy="2926080"/>
          </a:xfrm>
          <a:prstGeom prst="round2DiagRect">
            <a:avLst>
              <a:gd name="adj1" fmla="val 6666"/>
              <a:gd name="adj2" fmla="val 125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Cantoneira TL"/>
          <p:cNvSpPr/>
          <p:nvPr/>
        </p:nvSpPr>
        <p:spPr>
          <a:xfrm>
            <a:off x="762000" y="2365248"/>
            <a:ext cx="268224" cy="268224"/>
          </a:xfrm>
          <a:custGeom>
            <a:avLst/>
            <a:gdLst/>
            <a:ahLst/>
            <a:cxnLst/>
            <a:rect l="0" t="0" r="r" b="b"/>
            <a:pathLst>
              <a:path w="268224" h="268224" fill="none">
                <a:moveTo>
                  <a:pt x="0" y="268224"/>
                </a:moveTo>
                <a:lnTo>
                  <a:pt x="0" y="195072"/>
                </a:lnTo>
                <a:arcTo wR="195072" hR="195072" stAng="10800000" swAng="5400000"/>
                <a:lnTo>
                  <a:pt x="268224" y="0"/>
                </a:lnTo>
              </a:path>
            </a:pathLst>
          </a:custGeom>
          <a:noFill/>
          <a:ln w="26822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ntoneira TR"/>
          <p:cNvSpPr/>
          <p:nvPr/>
        </p:nvSpPr>
        <p:spPr>
          <a:xfrm>
            <a:off x="5638800" y="2365248"/>
            <a:ext cx="268224" cy="268224"/>
          </a:xfrm>
          <a:custGeom>
            <a:avLst/>
            <a:gdLst/>
            <a:ahLst/>
            <a:cxnLst/>
            <a:rect l="0" t="0" r="r" b="b"/>
            <a:pathLst>
              <a:path w="268224" h="268224" fill="none">
                <a:moveTo>
                  <a:pt x="0" y="0"/>
                </a:moveTo>
                <a:lnTo>
                  <a:pt x="231648" y="0"/>
                </a:lnTo>
                <a:arcTo wR="36576" hR="36576" stAng="16200000" swAng="5400000"/>
                <a:lnTo>
                  <a:pt x="268224" y="268224"/>
                </a:lnTo>
              </a:path>
            </a:pathLst>
          </a:custGeom>
          <a:noFill/>
          <a:ln w="26822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ntoneira BL"/>
          <p:cNvSpPr/>
          <p:nvPr/>
        </p:nvSpPr>
        <p:spPr>
          <a:xfrm>
            <a:off x="762000" y="5023104"/>
            <a:ext cx="268224" cy="268224"/>
          </a:xfrm>
          <a:custGeom>
            <a:avLst/>
            <a:gdLst/>
            <a:ahLst/>
            <a:cxnLst/>
            <a:rect l="0" t="0" r="r" b="b"/>
            <a:pathLst>
              <a:path w="268224" h="268224" fill="none">
                <a:moveTo>
                  <a:pt x="0" y="0"/>
                </a:moveTo>
                <a:lnTo>
                  <a:pt x="0" y="231648"/>
                </a:lnTo>
                <a:arcTo wR="36576" hR="36576" stAng="10800000" swAng="-5400000"/>
                <a:lnTo>
                  <a:pt x="268224" y="268224"/>
                </a:lnTo>
              </a:path>
            </a:pathLst>
          </a:custGeom>
          <a:noFill/>
          <a:ln w="26822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ntoneira BR"/>
          <p:cNvSpPr/>
          <p:nvPr/>
        </p:nvSpPr>
        <p:spPr>
          <a:xfrm>
            <a:off x="5638800" y="5023104"/>
            <a:ext cx="268224" cy="268224"/>
          </a:xfrm>
          <a:custGeom>
            <a:avLst/>
            <a:gdLst/>
            <a:ahLst/>
            <a:cxnLst/>
            <a:rect l="0" t="0" r="r" b="b"/>
            <a:pathLst>
              <a:path w="268224" h="268224" fill="none">
                <a:moveTo>
                  <a:pt x="268224" y="0"/>
                </a:moveTo>
                <a:lnTo>
                  <a:pt x="268224" y="73152"/>
                </a:lnTo>
                <a:arcTo wR="195072" hR="195072" stAng="0" swAng="5400000"/>
                <a:lnTo>
                  <a:pt x="0" y="268224"/>
                </a:lnTo>
              </a:path>
            </a:pathLst>
          </a:custGeom>
          <a:noFill/>
          <a:ln w="26822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633472"/>
            <a:ext cx="451104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.objetivo do ciclo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974848"/>
            <a:ext cx="4511040" cy="962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3376B"/>
                </a:solidFill>
                <a:latin typeface="Sora"/>
              </a:rPr>
              <a:t>Aumentar entradas qualificadas de origem orgânica e fortalecer a permanência nas duas comunidades.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035186"/>
            <a:ext cx="4511040" cy="8373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4850"/>
                </a:solidFill>
                <a:latin typeface="Sora"/>
              </a:rPr>
              <a:t>Resultado mínimo verificável: uma rotina com nove entregas úteis, a origem das entradas identificada e uma leitura de temas por segmento ao fim de outubro. A meta numérica será definida a partir da linha de base de 02/10.</a:t>
            </a:r>
          </a:p>
        </p:txBody>
      </p:sp>
      <p:sp>
        <p:nvSpPr>
          <p:cNvPr id="13" name="Métrica"/>
          <p:cNvSpPr/>
          <p:nvPr/>
        </p:nvSpPr>
        <p:spPr>
          <a:xfrm>
            <a:off x="6102096" y="2365248"/>
            <a:ext cx="2572512" cy="1371600"/>
          </a:xfrm>
          <a:prstGeom prst="round2DiagRect">
            <a:avLst>
              <a:gd name="adj1" fmla="val 11555"/>
              <a:gd name="adj2" fmla="val 222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511552"/>
            <a:ext cx="208483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364</a:t>
            </a:r>
            <a:r>
              <a:rPr sz="1300" b="0" i="0">
                <a:solidFill>
                  <a:srgbClr val="656C77"/>
                </a:solidFill>
                <a:latin typeface="Sora"/>
              </a:rPr>
              <a:t> membros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060192"/>
            <a:ext cx="2084832" cy="591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Em 02/10: 49 em Médicos e 315 em Outras Especialidades</a:t>
            </a:r>
          </a:p>
        </p:txBody>
      </p:sp>
      <p:sp>
        <p:nvSpPr>
          <p:cNvPr id="16" name="Métrica"/>
          <p:cNvSpPr/>
          <p:nvPr/>
        </p:nvSpPr>
        <p:spPr>
          <a:xfrm>
            <a:off x="8857488" y="2365248"/>
            <a:ext cx="2572512" cy="1371600"/>
          </a:xfrm>
          <a:prstGeom prst="round2DiagRect">
            <a:avLst>
              <a:gd name="adj1" fmla="val 11555"/>
              <a:gd name="adj2" fmla="val 222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1328" y="2511552"/>
            <a:ext cx="208483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15</a:t>
            </a:r>
            <a:r>
              <a:rPr sz="1300" b="0" i="0">
                <a:solidFill>
                  <a:srgbClr val="656C77"/>
                </a:solidFill>
                <a:latin typeface="Sora"/>
              </a:rPr>
              <a:t>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1328" y="3060192"/>
            <a:ext cx="2084832" cy="591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11 estáticos e 4 carrosséis, 3 deles prontos</a:t>
            </a:r>
          </a:p>
        </p:txBody>
      </p:sp>
      <p:sp>
        <p:nvSpPr>
          <p:cNvPr id="19" name="Métrica"/>
          <p:cNvSpPr/>
          <p:nvPr/>
        </p:nvSpPr>
        <p:spPr>
          <a:xfrm>
            <a:off x="6102096" y="3919728"/>
            <a:ext cx="2572512" cy="1371600"/>
          </a:xfrm>
          <a:prstGeom prst="round2DiagRect">
            <a:avLst>
              <a:gd name="adj1" fmla="val 11555"/>
              <a:gd name="adj2" fmla="val 222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066032"/>
            <a:ext cx="208483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9</a:t>
            </a:r>
            <a:r>
              <a:rPr sz="1300" b="0" i="0">
                <a:solidFill>
                  <a:srgbClr val="656C77"/>
                </a:solidFill>
                <a:latin typeface="Sora"/>
              </a:rPr>
              <a:t> disparos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614672"/>
            <a:ext cx="2084832" cy="591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por comunidade, com versão própria para cada público</a:t>
            </a:r>
          </a:p>
        </p:txBody>
      </p:sp>
      <p:sp>
        <p:nvSpPr>
          <p:cNvPr id="22" name="Métrica"/>
          <p:cNvSpPr/>
          <p:nvPr/>
        </p:nvSpPr>
        <p:spPr>
          <a:xfrm>
            <a:off x="8857488" y="3919728"/>
            <a:ext cx="2572512" cy="1371600"/>
          </a:xfrm>
          <a:prstGeom prst="round2DiagRect">
            <a:avLst>
              <a:gd name="adj1" fmla="val 11555"/>
              <a:gd name="adj2" fmla="val 222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1328" y="4066032"/>
            <a:ext cx="208483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0</a:t>
            </a:r>
            <a:r>
              <a:rPr sz="1300" b="0" i="0">
                <a:solidFill>
                  <a:srgbClr val="656C77"/>
                </a:solidFill>
                <a:latin typeface="Sora"/>
              </a:rPr>
              <a:t> mídia paga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1328" y="4614672"/>
            <a:ext cx="2084832" cy="591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Instagram, WhatsApp e indicação entre pares</a:t>
            </a:r>
          </a:p>
        </p:txBody>
      </p:sp>
      <p:sp>
        <p:nvSpPr>
          <p:cNvPr id="25" name="Aviso"/>
          <p:cNvSpPr/>
          <p:nvPr/>
        </p:nvSpPr>
        <p:spPr>
          <a:xfrm>
            <a:off x="762000" y="5486400"/>
            <a:ext cx="10668000" cy="746227"/>
          </a:xfrm>
          <a:prstGeom prst="round2DiagRect">
            <a:avLst>
              <a:gd name="adj1" fmla="val 19605"/>
              <a:gd name="adj2" fmla="val 4084"/>
            </a:avLst>
          </a:prstGeom>
          <a:solidFill>
            <a:srgbClr val="FBF0C8"/>
          </a:solidFill>
          <a:ln w="9525">
            <a:solidFill>
              <a:srgbClr val="B3BAC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Ícone aler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56" y="5725401"/>
            <a:ext cx="268224" cy="2682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95984" y="5657088"/>
            <a:ext cx="9814560" cy="4048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Ofertas não vão para o feed em nenhuma hipótese. </a:t>
            </a:r>
            <a:r>
              <a:rPr sz="1150" b="0" i="0">
                <a:solidFill>
                  <a:srgbClr val="2E3238"/>
                </a:solidFill>
                <a:latin typeface="Sora"/>
              </a:rPr>
              <a:t>Elas são reveladas apenas a quem já está na comunidade do WhatsApp, como um dos benefícios dos membros.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Duas comunidades, duas versões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.público e promessa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359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Médicos são o público prioritário; as demais especialidades da saúde recebem versões próprias.</a:t>
            </a:r>
          </a:p>
        </p:txBody>
      </p:sp>
      <p:sp>
        <p:nvSpPr>
          <p:cNvPr id="5" name="Cartão"/>
          <p:cNvSpPr/>
          <p:nvPr/>
        </p:nvSpPr>
        <p:spPr>
          <a:xfrm>
            <a:off x="762000" y="2066544"/>
            <a:ext cx="5230368" cy="2365248"/>
          </a:xfrm>
          <a:prstGeom prst="round2DiagRect">
            <a:avLst>
              <a:gd name="adj1" fmla="val 8247"/>
              <a:gd name="adj2" fmla="val 154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310384"/>
            <a:ext cx="4693920" cy="341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376B"/>
                </a:solidFill>
                <a:latin typeface="Sora"/>
              </a:rPr>
              <a:t>Médicos</a:t>
            </a:r>
          </a:p>
        </p:txBody>
      </p:sp>
      <p:sp>
        <p:nvSpPr>
          <p:cNvPr id="7" name="Tag 49 membros em 02/10"/>
          <p:cNvSpPr/>
          <p:nvPr/>
        </p:nvSpPr>
        <p:spPr>
          <a:xfrm>
            <a:off x="1030224" y="2700528"/>
            <a:ext cx="1599090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49 membros em 02/10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3041904"/>
            <a:ext cx="4693920" cy="1267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Médicos que também lideram ou participam das decisões da clínica. Enfrentam decisões clínicas e de gestão, atualização contínua e avaliação de tecnologias. Podem desconfiar de grupos genéricos ou de venda; o conteúdo respeita sua autonomia e oferece critérios, perguntas e exemplos de rotina.</a:t>
            </a:r>
          </a:p>
        </p:txBody>
      </p:sp>
      <p:sp>
        <p:nvSpPr>
          <p:cNvPr id="9" name="Cartão"/>
          <p:cNvSpPr/>
          <p:nvPr/>
        </p:nvSpPr>
        <p:spPr>
          <a:xfrm>
            <a:off x="6199632" y="2066544"/>
            <a:ext cx="5230368" cy="2365248"/>
          </a:xfrm>
          <a:prstGeom prst="round2DiagRect">
            <a:avLst>
              <a:gd name="adj1" fmla="val 8247"/>
              <a:gd name="adj2" fmla="val 154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310384"/>
            <a:ext cx="4693920" cy="341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3376B"/>
                </a:solidFill>
                <a:latin typeface="Sora"/>
              </a:rPr>
              <a:t>Outras especialidades da saúde</a:t>
            </a:r>
          </a:p>
        </p:txBody>
      </p:sp>
      <p:sp>
        <p:nvSpPr>
          <p:cNvPr id="11" name="Tag 315 membros em 02/10"/>
          <p:cNvSpPr/>
          <p:nvPr/>
        </p:nvSpPr>
        <p:spPr>
          <a:xfrm>
            <a:off x="6467856" y="2700528"/>
            <a:ext cx="1638514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315 membros em 02/10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3041904"/>
            <a:ext cx="4693920" cy="1267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Interessa a atualização aplicável e a troca profissional, sem pressupor a mesma atribuição clínica ou poder de decisão. Evitar “médico” como endereço universal; cada aplicação respeita a formação e as normas da área.</a:t>
            </a:r>
          </a:p>
        </p:txBody>
      </p:sp>
      <p:sp>
        <p:nvSpPr>
          <p:cNvPr id="13" name="Cartão"/>
          <p:cNvSpPr/>
          <p:nvPr/>
        </p:nvSpPr>
        <p:spPr>
          <a:xfrm>
            <a:off x="762000" y="4639056"/>
            <a:ext cx="5230368" cy="1389888"/>
          </a:xfrm>
          <a:prstGeom prst="round2DiagRect">
            <a:avLst>
              <a:gd name="adj1" fmla="val 10526"/>
              <a:gd name="adj2" fmla="val 2192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0224" y="4846320"/>
            <a:ext cx="469392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165BB"/>
                </a:solidFill>
                <a:latin typeface="Montserrat Alternates"/>
              </a:rPr>
              <a:t>.promessa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224" y="5175504"/>
            <a:ext cx="4693920" cy="780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376B"/>
                </a:solidFill>
                <a:latin typeface="Sora"/>
              </a:rPr>
              <a:t>A HLS reúne profissionais da saúde para examinar temas relevantes, aprender com especialistas e ampliar o repertório para decisões da prática e da gestão.</a:t>
            </a:r>
          </a:p>
        </p:txBody>
      </p:sp>
      <p:sp>
        <p:nvSpPr>
          <p:cNvPr id="16" name="Cartão"/>
          <p:cNvSpPr/>
          <p:nvPr/>
        </p:nvSpPr>
        <p:spPr>
          <a:xfrm>
            <a:off x="6199632" y="4639056"/>
            <a:ext cx="5230368" cy="1389888"/>
          </a:xfrm>
          <a:prstGeom prst="round2DiagRect">
            <a:avLst>
              <a:gd name="adj1" fmla="val 10526"/>
              <a:gd name="adj2" fmla="val 2192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7856" y="4846320"/>
            <a:ext cx="469392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165BB"/>
                </a:solidFill>
                <a:latin typeface="Montserrat Alternates"/>
              </a:rPr>
              <a:t>.versão curta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856" y="5175504"/>
            <a:ext cx="4693920" cy="780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376B"/>
                </a:solidFill>
                <a:latin typeface="Sora"/>
              </a:rPr>
              <a:t>Conteúdo e troca entre profissionais da saúde para decisões mais bem informadas.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jornada do membro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.jornada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359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Do primeiro contato à indicação entre pares, em sete passos.</a:t>
            </a:r>
          </a:p>
        </p:txBody>
      </p:sp>
      <p:sp>
        <p:nvSpPr>
          <p:cNvPr id="5" name="Linha"/>
          <p:cNvSpPr/>
          <p:nvPr/>
        </p:nvSpPr>
        <p:spPr>
          <a:xfrm>
            <a:off x="762000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cador"/>
          <p:cNvSpPr/>
          <p:nvPr/>
        </p:nvSpPr>
        <p:spPr>
          <a:xfrm>
            <a:off x="762000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Instagram ou indicação</a:t>
            </a:r>
          </a:p>
        </p:txBody>
      </p:sp>
      <p:sp>
        <p:nvSpPr>
          <p:cNvPr id="9" name="Linha"/>
          <p:cNvSpPr/>
          <p:nvPr/>
        </p:nvSpPr>
        <p:spPr>
          <a:xfrm>
            <a:off x="2319093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rcador"/>
          <p:cNvSpPr/>
          <p:nvPr/>
        </p:nvSpPr>
        <p:spPr>
          <a:xfrm>
            <a:off x="2319093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9093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9093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Página HLS</a:t>
            </a:r>
          </a:p>
        </p:txBody>
      </p:sp>
      <p:sp>
        <p:nvSpPr>
          <p:cNvPr id="13" name="Linha"/>
          <p:cNvSpPr/>
          <p:nvPr/>
        </p:nvSpPr>
        <p:spPr>
          <a:xfrm>
            <a:off x="3876185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Marcador"/>
          <p:cNvSpPr/>
          <p:nvPr/>
        </p:nvSpPr>
        <p:spPr>
          <a:xfrm>
            <a:off x="3876185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6185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6185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Comunidade correta</a:t>
            </a:r>
          </a:p>
        </p:txBody>
      </p:sp>
      <p:sp>
        <p:nvSpPr>
          <p:cNvPr id="17" name="Linha"/>
          <p:cNvSpPr/>
          <p:nvPr/>
        </p:nvSpPr>
        <p:spPr>
          <a:xfrm>
            <a:off x="5433278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Marcador"/>
          <p:cNvSpPr/>
          <p:nvPr/>
        </p:nvSpPr>
        <p:spPr>
          <a:xfrm>
            <a:off x="5433278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3278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3278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Boas-vindas e primeira utilidade</a:t>
            </a:r>
          </a:p>
        </p:txBody>
      </p:sp>
      <p:sp>
        <p:nvSpPr>
          <p:cNvPr id="21" name="Linha"/>
          <p:cNvSpPr/>
          <p:nvPr/>
        </p:nvSpPr>
        <p:spPr>
          <a:xfrm>
            <a:off x="6990370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arcador"/>
          <p:cNvSpPr/>
          <p:nvPr/>
        </p:nvSpPr>
        <p:spPr>
          <a:xfrm>
            <a:off x="6990370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0370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0370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Conteúdo de gestão e curadoria</a:t>
            </a:r>
          </a:p>
        </p:txBody>
      </p:sp>
      <p:sp>
        <p:nvSpPr>
          <p:cNvPr id="25" name="Linha"/>
          <p:cNvSpPr/>
          <p:nvPr/>
        </p:nvSpPr>
        <p:spPr>
          <a:xfrm>
            <a:off x="8547463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Marcador"/>
          <p:cNvSpPr/>
          <p:nvPr/>
        </p:nvSpPr>
        <p:spPr>
          <a:xfrm>
            <a:off x="8547463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7463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7463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Escolha de tema</a:t>
            </a:r>
          </a:p>
        </p:txBody>
      </p:sp>
      <p:sp>
        <p:nvSpPr>
          <p:cNvPr id="29" name="Linha"/>
          <p:cNvSpPr/>
          <p:nvPr/>
        </p:nvSpPr>
        <p:spPr>
          <a:xfrm>
            <a:off x="10104555" y="2310384"/>
            <a:ext cx="1325445" cy="24384"/>
          </a:xfrm>
          <a:prstGeom prst="rect">
            <a:avLst/>
          </a:prstGeom>
          <a:solidFill>
            <a:srgbClr val="01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Marcador"/>
          <p:cNvSpPr/>
          <p:nvPr/>
        </p:nvSpPr>
        <p:spPr>
          <a:xfrm>
            <a:off x="10104555" y="221894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555" y="2578608"/>
            <a:ext cx="132544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555" y="2944368"/>
            <a:ext cx="1325445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Indicação entre pares</a:t>
            </a:r>
          </a:p>
        </p:txBody>
      </p:sp>
      <p:sp>
        <p:nvSpPr>
          <p:cNvPr id="33" name="Aviso"/>
          <p:cNvSpPr/>
          <p:nvPr/>
        </p:nvSpPr>
        <p:spPr>
          <a:xfrm>
            <a:off x="762000" y="4443984"/>
            <a:ext cx="10668000" cy="746227"/>
          </a:xfrm>
          <a:prstGeom prst="round2DiagRect">
            <a:avLst>
              <a:gd name="adj1" fmla="val 19605"/>
              <a:gd name="adj2" fmla="val 4084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Ícone inf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56" y="4682985"/>
            <a:ext cx="268224" cy="2682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95984" y="4614672"/>
            <a:ext cx="9814560" cy="4048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Regra do grupo. </a:t>
            </a:r>
            <a:r>
              <a:rPr sz="1150" b="0" i="0">
                <a:solidFill>
                  <a:srgbClr val="2E3238"/>
                </a:solidFill>
                <a:latin typeface="Sora"/>
              </a:rPr>
              <a:t>Só administradores publicam. A participação é por enquetes e reações; nenhum texto pede resposta escrita dentro do grupo.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Cinco pilares editoriais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.pilares editoriais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Predomina conteúdo de utilidade prática, intercalado com posicionamento da comunidade e convites de entrada.</a:t>
            </a:r>
          </a:p>
        </p:txBody>
      </p:sp>
      <p:sp>
        <p:nvSpPr>
          <p:cNvPr id="5" name="Pilares"/>
          <p:cNvSpPr/>
          <p:nvPr/>
        </p:nvSpPr>
        <p:spPr>
          <a:xfrm>
            <a:off x="762000" y="2365248"/>
            <a:ext cx="10668000" cy="3474720"/>
          </a:xfrm>
          <a:prstGeom prst="round2DiagRect">
            <a:avLst>
              <a:gd name="adj1" fmla="val 5614"/>
              <a:gd name="adj2" fmla="val 105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65248"/>
            <a:ext cx="60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6128" y="2365248"/>
            <a:ext cx="3657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Gestão e liderança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9760" y="2365248"/>
            <a:ext cx="5413248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3238"/>
                </a:solidFill>
                <a:latin typeface="Sora"/>
              </a:rPr>
              <a:t>Decisões recorrentes, responsáveis e acompanhamento.</a:t>
            </a:r>
          </a:p>
        </p:txBody>
      </p:sp>
      <p:sp>
        <p:nvSpPr>
          <p:cNvPr id="9" name="Divisor"/>
          <p:cNvSpPr/>
          <p:nvPr/>
        </p:nvSpPr>
        <p:spPr>
          <a:xfrm>
            <a:off x="1054608" y="3060192"/>
            <a:ext cx="10082784" cy="975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60192"/>
            <a:ext cx="60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6128" y="3060192"/>
            <a:ext cx="3657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Experiência do paciente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9760" y="3060192"/>
            <a:ext cx="5413248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3238"/>
                </a:solidFill>
                <a:latin typeface="Sora"/>
              </a:rPr>
              <a:t>Informação antes, durante e depois do atendimento, sem orientação clínica individual.</a:t>
            </a:r>
          </a:p>
        </p:txBody>
      </p:sp>
      <p:sp>
        <p:nvSpPr>
          <p:cNvPr id="13" name="Divisor"/>
          <p:cNvSpPr/>
          <p:nvPr/>
        </p:nvSpPr>
        <p:spPr>
          <a:xfrm>
            <a:off x="1054608" y="3755136"/>
            <a:ext cx="10082784" cy="975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755136"/>
            <a:ext cx="60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6128" y="3755136"/>
            <a:ext cx="3657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Avaliação crítica de tecnologias e informações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9760" y="3755136"/>
            <a:ext cx="5413248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3238"/>
                </a:solidFill>
                <a:latin typeface="Sora"/>
              </a:rPr>
              <a:t>Evidência, adequação e capacidade de execução antes de aderir a uma novidade.</a:t>
            </a:r>
          </a:p>
        </p:txBody>
      </p:sp>
      <p:sp>
        <p:nvSpPr>
          <p:cNvPr id="17" name="Divisor"/>
          <p:cNvSpPr/>
          <p:nvPr/>
        </p:nvSpPr>
        <p:spPr>
          <a:xfrm>
            <a:off x="1054608" y="4450080"/>
            <a:ext cx="10082784" cy="975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450080"/>
            <a:ext cx="60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6128" y="4450080"/>
            <a:ext cx="3657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Comunidade e repertório entre pares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9760" y="4450080"/>
            <a:ext cx="5413248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3238"/>
                </a:solidFill>
                <a:latin typeface="Sora"/>
              </a:rPr>
              <a:t>Perguntas e perspectivas que ampliam a análise.</a:t>
            </a:r>
          </a:p>
        </p:txBody>
      </p:sp>
      <p:sp>
        <p:nvSpPr>
          <p:cNvPr id="21" name="Divisor"/>
          <p:cNvSpPr/>
          <p:nvPr/>
        </p:nvSpPr>
        <p:spPr>
          <a:xfrm>
            <a:off x="1054608" y="5145024"/>
            <a:ext cx="10082784" cy="975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145024"/>
            <a:ext cx="609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6128" y="5145024"/>
            <a:ext cx="36576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3376B"/>
                </a:solidFill>
                <a:latin typeface="Sora"/>
              </a:rPr>
              <a:t>Apresentação da HLS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9760" y="5145024"/>
            <a:ext cx="5413248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3238"/>
                </a:solidFill>
                <a:latin typeface="Sora"/>
              </a:rPr>
              <a:t>Pertencimento e oportunidade, com convite como consequência do conteúdo.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 publicação a cada dois dias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.instagram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Nas datas pares, de 02 a 30/10. Predomina conteúdo de utilidade prática, intercalado com posicionamento da comunidade e convites de entrada.</a:t>
            </a:r>
          </a:p>
        </p:txBody>
      </p:sp>
      <p:sp>
        <p:nvSpPr>
          <p:cNvPr id="5" name="Métrica"/>
          <p:cNvSpPr/>
          <p:nvPr/>
        </p:nvSpPr>
        <p:spPr>
          <a:xfrm>
            <a:off x="762000" y="2365248"/>
            <a:ext cx="3425952" cy="1389888"/>
          </a:xfrm>
          <a:prstGeom prst="round2DiagRect">
            <a:avLst>
              <a:gd name="adj1" fmla="val 11403"/>
              <a:gd name="adj2" fmla="val 219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1552"/>
            <a:ext cx="293827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15</a:t>
            </a:r>
            <a:r>
              <a:rPr sz="1300" b="0" i="0">
                <a:solidFill>
                  <a:srgbClr val="656C77"/>
                </a:solidFill>
                <a:latin typeface="Sora"/>
              </a:rPr>
              <a:t> publicações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0192"/>
            <a:ext cx="293827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de 02 a 30/10, uma a cada dois dias</a:t>
            </a:r>
          </a:p>
        </p:txBody>
      </p:sp>
      <p:sp>
        <p:nvSpPr>
          <p:cNvPr id="8" name="Métrica"/>
          <p:cNvSpPr/>
          <p:nvPr/>
        </p:nvSpPr>
        <p:spPr>
          <a:xfrm>
            <a:off x="4383024" y="2365248"/>
            <a:ext cx="3425952" cy="1389888"/>
          </a:xfrm>
          <a:prstGeom prst="round2DiagRect">
            <a:avLst>
              <a:gd name="adj1" fmla="val 11403"/>
              <a:gd name="adj2" fmla="val 219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511552"/>
            <a:ext cx="293827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11</a:t>
            </a:r>
            <a:r>
              <a:rPr sz="1300" b="0" i="0">
                <a:solidFill>
                  <a:srgbClr val="656C77"/>
                </a:solidFill>
                <a:latin typeface="Sora"/>
              </a:rPr>
              <a:t> estáticos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3060192"/>
            <a:ext cx="293827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com pouco texto na arte e desenvolvimento na legenda</a:t>
            </a:r>
          </a:p>
        </p:txBody>
      </p:sp>
      <p:sp>
        <p:nvSpPr>
          <p:cNvPr id="11" name="Métrica"/>
          <p:cNvSpPr/>
          <p:nvPr/>
        </p:nvSpPr>
        <p:spPr>
          <a:xfrm>
            <a:off x="8004048" y="2365248"/>
            <a:ext cx="3425952" cy="1389888"/>
          </a:xfrm>
          <a:prstGeom prst="round2DiagRect">
            <a:avLst>
              <a:gd name="adj1" fmla="val 11403"/>
              <a:gd name="adj2" fmla="val 219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11552"/>
            <a:ext cx="293827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4</a:t>
            </a:r>
            <a:r>
              <a:rPr sz="1300" b="0" i="0">
                <a:solidFill>
                  <a:srgbClr val="656C77"/>
                </a:solidFill>
                <a:latin typeface="Sora"/>
              </a:rPr>
              <a:t> carrosséis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060192"/>
            <a:ext cx="2938272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três deles prontos (04, 08 e 14/10) e um novo, em 22/10</a:t>
            </a:r>
          </a:p>
        </p:txBody>
      </p:sp>
      <p:sp>
        <p:nvSpPr>
          <p:cNvPr id="14" name="Cartão"/>
          <p:cNvSpPr/>
          <p:nvPr/>
        </p:nvSpPr>
        <p:spPr>
          <a:xfrm>
            <a:off x="762000" y="3950208"/>
            <a:ext cx="5230368" cy="1828800"/>
          </a:xfrm>
          <a:prstGeom prst="round2DiagRect">
            <a:avLst>
              <a:gd name="adj1" fmla="val 10666"/>
              <a:gd name="adj2" fmla="val 200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224" y="4169664"/>
            <a:ext cx="4693920" cy="341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3376B"/>
                </a:solidFill>
                <a:latin typeface="Sora"/>
              </a:rPr>
              <a:t>Direção visual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0224" y="4559808"/>
            <a:ext cx="4693920" cy="1158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Manter a identidade das peças prontas: navy, azul, branco ou gelo, acentos dourados e tipografia editorial. Estáticos com pouco texto na arte e desenvolvimento na legenda. Evitar aparência de anúncio promocional ou de banco de imagem clínica genérico.</a:t>
            </a:r>
          </a:p>
        </p:txBody>
      </p:sp>
      <p:sp>
        <p:nvSpPr>
          <p:cNvPr id="17" name="Cartão"/>
          <p:cNvSpPr/>
          <p:nvPr/>
        </p:nvSpPr>
        <p:spPr>
          <a:xfrm>
            <a:off x="6199632" y="3950208"/>
            <a:ext cx="5230368" cy="1828800"/>
          </a:xfrm>
          <a:prstGeom prst="round2DiagRect">
            <a:avLst>
              <a:gd name="adj1" fmla="val 10666"/>
              <a:gd name="adj2" fmla="val 200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7856" y="4169664"/>
            <a:ext cx="4693920" cy="341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3376B"/>
                </a:solidFill>
                <a:latin typeface="Sora"/>
              </a:rPr>
              <a:t>Carrosséis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856" y="4559808"/>
            <a:ext cx="4693920" cy="1158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Nos três prontos (04, 08 e 14/10), preservar arte e texto aprovados e publicar as lâminas em ordem. O novo, de 22/10, usa abertura curiosa e passo a passo, com 7 lâminas e uma ideia por lâmina. Sem números, depoimentos ou promessas não documentados.</a:t>
            </a:r>
          </a:p>
        </p:txBody>
      </p:sp>
      <p:pic>
        <p:nvPicPr>
          <p:cNvPr id="20" name="Ícone relogi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74080"/>
            <a:ext cx="231648" cy="2316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03376" y="5974080"/>
            <a:ext cx="103266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D535C"/>
                </a:solidFill>
                <a:latin typeface="Sora"/>
              </a:rPr>
              <a:t>Horários são ponto de partida para teste, no fuso de Brasília.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 disparos por comunidade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.comunidades no whatsapp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De 05 a 31/10. Cada disparo acrescenta aplicação ao tema do feed, sem reproduzir a legenda. A versão M é só para Médicos e a versão O, só para Outras Especialidades.</a:t>
            </a:r>
          </a:p>
        </p:txBody>
      </p:sp>
      <p:sp>
        <p:nvSpPr>
          <p:cNvPr id="5" name="Métrica"/>
          <p:cNvSpPr/>
          <p:nvPr/>
        </p:nvSpPr>
        <p:spPr>
          <a:xfrm>
            <a:off x="762000" y="2365248"/>
            <a:ext cx="2520696" cy="1341120"/>
          </a:xfrm>
          <a:prstGeom prst="round2DiagRect">
            <a:avLst>
              <a:gd name="adj1" fmla="val 11818"/>
              <a:gd name="adj2" fmla="val 227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1552"/>
            <a:ext cx="2033016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3</a:t>
            </a:r>
            <a:r>
              <a:rPr sz="1300" b="0" i="0">
                <a:solidFill>
                  <a:srgbClr val="656C77"/>
                </a:solidFill>
                <a:latin typeface="Sora"/>
              </a:rPr>
              <a:t> enquetes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0192"/>
            <a:ext cx="2033016" cy="560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C01 · C03 · C07</a:t>
            </a:r>
          </a:p>
        </p:txBody>
      </p:sp>
      <p:sp>
        <p:nvSpPr>
          <p:cNvPr id="8" name="Métrica"/>
          <p:cNvSpPr/>
          <p:nvPr/>
        </p:nvSpPr>
        <p:spPr>
          <a:xfrm>
            <a:off x="3477768" y="2365248"/>
            <a:ext cx="2520696" cy="1341120"/>
          </a:xfrm>
          <a:prstGeom prst="round2DiagRect">
            <a:avLst>
              <a:gd name="adj1" fmla="val 11818"/>
              <a:gd name="adj2" fmla="val 227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2511552"/>
            <a:ext cx="2033016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3</a:t>
            </a:r>
            <a:r>
              <a:rPr sz="1300" b="0" i="0">
                <a:solidFill>
                  <a:srgbClr val="656C77"/>
                </a:solidFill>
                <a:latin typeface="Sora"/>
              </a:rPr>
              <a:t> reações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3060192"/>
            <a:ext cx="2033016" cy="560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C02 · C06 · C09</a:t>
            </a:r>
          </a:p>
        </p:txBody>
      </p:sp>
      <p:sp>
        <p:nvSpPr>
          <p:cNvPr id="11" name="Métrica"/>
          <p:cNvSpPr/>
          <p:nvPr/>
        </p:nvSpPr>
        <p:spPr>
          <a:xfrm>
            <a:off x="6193536" y="2365248"/>
            <a:ext cx="2520696" cy="1341120"/>
          </a:xfrm>
          <a:prstGeom prst="round2DiagRect">
            <a:avLst>
              <a:gd name="adj1" fmla="val 11818"/>
              <a:gd name="adj2" fmla="val 227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511552"/>
            <a:ext cx="2033016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2</a:t>
            </a:r>
            <a:r>
              <a:rPr sz="1300" b="0" i="0">
                <a:solidFill>
                  <a:srgbClr val="656C77"/>
                </a:solidFill>
                <a:latin typeface="Sora"/>
              </a:rPr>
              <a:t> práticas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060192"/>
            <a:ext cx="2033016" cy="560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C04 · C05</a:t>
            </a:r>
          </a:p>
        </p:txBody>
      </p:sp>
      <p:sp>
        <p:nvSpPr>
          <p:cNvPr id="14" name="Métrica"/>
          <p:cNvSpPr/>
          <p:nvPr/>
        </p:nvSpPr>
        <p:spPr>
          <a:xfrm>
            <a:off x="8909304" y="2365248"/>
            <a:ext cx="2520696" cy="1341120"/>
          </a:xfrm>
          <a:prstGeom prst="round2DiagRect">
            <a:avLst>
              <a:gd name="adj1" fmla="val 11818"/>
              <a:gd name="adj2" fmla="val 227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4" y="2511552"/>
            <a:ext cx="2033016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376B"/>
                </a:solidFill>
                <a:latin typeface="Sora"/>
              </a:rPr>
              <a:t>1</a:t>
            </a:r>
            <a:r>
              <a:rPr sz="1300" b="0" i="0">
                <a:solidFill>
                  <a:srgbClr val="656C77"/>
                </a:solidFill>
                <a:latin typeface="Sora"/>
              </a:rPr>
              <a:t> convite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3060192"/>
            <a:ext cx="2033016" cy="560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C08</a:t>
            </a:r>
          </a:p>
        </p:txBody>
      </p:sp>
      <p:sp>
        <p:nvSpPr>
          <p:cNvPr id="17" name="Aviso"/>
          <p:cNvSpPr/>
          <p:nvPr/>
        </p:nvSpPr>
        <p:spPr>
          <a:xfrm>
            <a:off x="762000" y="3974592"/>
            <a:ext cx="10668000" cy="746227"/>
          </a:xfrm>
          <a:prstGeom prst="round2DiagRect">
            <a:avLst>
              <a:gd name="adj1" fmla="val 19605"/>
              <a:gd name="adj2" fmla="val 4084"/>
            </a:avLst>
          </a:prstGeom>
          <a:solidFill>
            <a:srgbClr val="FBF0C8"/>
          </a:solidFill>
          <a:ln w="9525">
            <a:solidFill>
              <a:srgbClr val="B3BAC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Ícone aler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56" y="4213593"/>
            <a:ext cx="268224" cy="2682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95984" y="4145280"/>
            <a:ext cx="9814560" cy="4048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Regra de operação. </a:t>
            </a:r>
            <a:r>
              <a:rPr sz="1150" b="0" i="0">
                <a:solidFill>
                  <a:srgbClr val="2E3238"/>
                </a:solidFill>
                <a:latin typeface="Sora"/>
              </a:rPr>
              <a:t>Se C07 ou C08 continuar sem link testado, não enviar texto com marcador: usar a alternativa sem link. Sem página validada em 28/10, o convite não é enviado, C09 é antecipada e 31/10 fica sem disparo.</a:t>
            </a:r>
          </a:p>
        </p:txBody>
      </p:sp>
      <p:pic>
        <p:nvPicPr>
          <p:cNvPr id="20" name="Ícone conversa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23104"/>
            <a:ext cx="231648" cy="2316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03376" y="5023104"/>
            <a:ext cx="103266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D535C"/>
                </a:solidFill>
                <a:latin typeface="Sora"/>
              </a:rPr>
              <a:t>Cada mensagem completa está nos anexos, em versão para Médicos e para Outras Especialidades.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Três fases, uma conversa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.linha narrativa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359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Os disparos das comunidades avançam da entrada e da utilidade até a escuta e a continuidade.</a:t>
            </a:r>
          </a:p>
        </p:txBody>
      </p:sp>
      <p:sp>
        <p:nvSpPr>
          <p:cNvPr id="5" name="Linha"/>
          <p:cNvSpPr/>
          <p:nvPr/>
        </p:nvSpPr>
        <p:spPr>
          <a:xfrm>
            <a:off x="762000" y="2432304"/>
            <a:ext cx="3230880" cy="24384"/>
          </a:xfrm>
          <a:prstGeom prst="rect">
            <a:avLst/>
          </a:prstGeom>
          <a:solidFill>
            <a:srgbClr val="B3B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cador"/>
          <p:cNvSpPr/>
          <p:nvPr/>
        </p:nvSpPr>
        <p:spPr>
          <a:xfrm>
            <a:off x="762000" y="234086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700528"/>
            <a:ext cx="3230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.03 a 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54096"/>
            <a:ext cx="32308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0165BB"/>
                </a:solidFill>
                <a:latin typeface="Sora"/>
              </a:rPr>
              <a:t>ENTRADA E UTILIDADE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22320"/>
            <a:ext cx="3230880" cy="351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376B"/>
                </a:solidFill>
                <a:latin typeface="Sora"/>
              </a:rPr>
              <a:t>Por que permanecer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71062"/>
            <a:ext cx="3230880" cy="496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3238"/>
                </a:solidFill>
                <a:latin typeface="Sora"/>
              </a:rPr>
              <a:t>Instrumento simples para revisar o primeiro contato.</a:t>
            </a:r>
          </a:p>
        </p:txBody>
      </p:sp>
      <p:sp>
        <p:nvSpPr>
          <p:cNvPr id="11" name="Tag C01"/>
          <p:cNvSpPr/>
          <p:nvPr/>
        </p:nvSpPr>
        <p:spPr>
          <a:xfrm>
            <a:off x="762000" y="4365422"/>
            <a:ext cx="520623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C01</a:t>
            </a:r>
          </a:p>
        </p:txBody>
      </p:sp>
      <p:sp>
        <p:nvSpPr>
          <p:cNvPr id="12" name="Tag C02"/>
          <p:cNvSpPr/>
          <p:nvPr/>
        </p:nvSpPr>
        <p:spPr>
          <a:xfrm>
            <a:off x="1367967" y="4365422"/>
            <a:ext cx="545243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C02</a:t>
            </a:r>
          </a:p>
        </p:txBody>
      </p:sp>
      <p:sp>
        <p:nvSpPr>
          <p:cNvPr id="13" name="Tag C03"/>
          <p:cNvSpPr/>
          <p:nvPr/>
        </p:nvSpPr>
        <p:spPr>
          <a:xfrm>
            <a:off x="1998553" y="4365422"/>
            <a:ext cx="545243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C03</a:t>
            </a:r>
          </a:p>
        </p:txBody>
      </p:sp>
      <p:sp>
        <p:nvSpPr>
          <p:cNvPr id="14" name="Linha"/>
          <p:cNvSpPr/>
          <p:nvPr/>
        </p:nvSpPr>
        <p:spPr>
          <a:xfrm>
            <a:off x="4480560" y="2432304"/>
            <a:ext cx="3230880" cy="24384"/>
          </a:xfrm>
          <a:prstGeom prst="rect">
            <a:avLst/>
          </a:prstGeom>
          <a:solidFill>
            <a:srgbClr val="B3B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Marcador"/>
          <p:cNvSpPr/>
          <p:nvPr/>
        </p:nvSpPr>
        <p:spPr>
          <a:xfrm>
            <a:off x="4480560" y="234086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700528"/>
            <a:ext cx="3230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.14 a 21/10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054096"/>
            <a:ext cx="32308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0165BB"/>
                </a:solidFill>
                <a:latin typeface="Sora"/>
              </a:rPr>
              <a:t>AUTORIDADE E CURADORIA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22320"/>
            <a:ext cx="3230880" cy="653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376B"/>
                </a:solidFill>
                <a:latin typeface="Sora"/>
              </a:rPr>
              <a:t>Decisões concentradas e novidades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73500"/>
            <a:ext cx="3230880" cy="496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3238"/>
                </a:solidFill>
                <a:latin typeface="Sora"/>
              </a:rPr>
              <a:t>Critérios para decidir e avaliar uma tecnologia.</a:t>
            </a:r>
          </a:p>
        </p:txBody>
      </p:sp>
      <p:sp>
        <p:nvSpPr>
          <p:cNvPr id="20" name="Tag C04"/>
          <p:cNvSpPr/>
          <p:nvPr/>
        </p:nvSpPr>
        <p:spPr>
          <a:xfrm>
            <a:off x="4480560" y="4667860"/>
            <a:ext cx="550069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C04</a:t>
            </a:r>
          </a:p>
        </p:txBody>
      </p:sp>
      <p:sp>
        <p:nvSpPr>
          <p:cNvPr id="21" name="Tag C05"/>
          <p:cNvSpPr/>
          <p:nvPr/>
        </p:nvSpPr>
        <p:spPr>
          <a:xfrm>
            <a:off x="5115973" y="4667860"/>
            <a:ext cx="546685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C05</a:t>
            </a:r>
          </a:p>
        </p:txBody>
      </p:sp>
      <p:sp>
        <p:nvSpPr>
          <p:cNvPr id="22" name="Tag C06"/>
          <p:cNvSpPr/>
          <p:nvPr/>
        </p:nvSpPr>
        <p:spPr>
          <a:xfrm>
            <a:off x="5748002" y="4667860"/>
            <a:ext cx="551878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C06</a:t>
            </a:r>
          </a:p>
        </p:txBody>
      </p:sp>
      <p:sp>
        <p:nvSpPr>
          <p:cNvPr id="23" name="Linha"/>
          <p:cNvSpPr/>
          <p:nvPr/>
        </p:nvSpPr>
        <p:spPr>
          <a:xfrm>
            <a:off x="8199120" y="2432304"/>
            <a:ext cx="3230880" cy="24384"/>
          </a:xfrm>
          <a:prstGeom prst="rect">
            <a:avLst/>
          </a:prstGeom>
          <a:solidFill>
            <a:srgbClr val="B3B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Marcador"/>
          <p:cNvSpPr/>
          <p:nvPr/>
        </p:nvSpPr>
        <p:spPr>
          <a:xfrm>
            <a:off x="8199120" y="2340864"/>
            <a:ext cx="158496" cy="158496"/>
          </a:xfrm>
          <a:prstGeom prst="round2DiagRect">
            <a:avLst>
              <a:gd name="adj1" fmla="val 27000"/>
              <a:gd name="adj2" fmla="val 0"/>
            </a:avLst>
          </a:prstGeom>
          <a:solidFill>
            <a:srgbClr val="0165BB"/>
          </a:solidFill>
          <a:ln w="1778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9120" y="2700528"/>
            <a:ext cx="3230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56C77"/>
                </a:solidFill>
                <a:latin typeface="Montserrat Alternates"/>
              </a:rPr>
              <a:t>.24 a 31/10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9120" y="3054096"/>
            <a:ext cx="32308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>
                <a:solidFill>
                  <a:srgbClr val="0165BB"/>
                </a:solidFill>
                <a:latin typeface="Sora"/>
              </a:rPr>
              <a:t>ESCUTA E CONTINUIDADE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9120" y="3322320"/>
            <a:ext cx="3230880" cy="653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376B"/>
                </a:solidFill>
                <a:latin typeface="Sora"/>
              </a:rPr>
              <a:t>Interesses, indicação e revisão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9120" y="4073500"/>
            <a:ext cx="3230880" cy="496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3238"/>
                </a:solidFill>
                <a:latin typeface="Sora"/>
              </a:rPr>
              <a:t>Enquete, convite segmentado e ação para novembro.</a:t>
            </a:r>
          </a:p>
        </p:txBody>
      </p:sp>
      <p:sp>
        <p:nvSpPr>
          <p:cNvPr id="29" name="Tag C07"/>
          <p:cNvSpPr/>
          <p:nvPr/>
        </p:nvSpPr>
        <p:spPr>
          <a:xfrm>
            <a:off x="8199120" y="4667860"/>
            <a:ext cx="542226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C07</a:t>
            </a:r>
          </a:p>
        </p:txBody>
      </p:sp>
      <p:sp>
        <p:nvSpPr>
          <p:cNvPr id="30" name="Tag C08"/>
          <p:cNvSpPr/>
          <p:nvPr/>
        </p:nvSpPr>
        <p:spPr>
          <a:xfrm>
            <a:off x="8826690" y="4667860"/>
            <a:ext cx="549466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C08</a:t>
            </a:r>
          </a:p>
        </p:txBody>
      </p:sp>
      <p:sp>
        <p:nvSpPr>
          <p:cNvPr id="31" name="Tag C09"/>
          <p:cNvSpPr/>
          <p:nvPr/>
        </p:nvSpPr>
        <p:spPr>
          <a:xfrm>
            <a:off x="9461500" y="4667860"/>
            <a:ext cx="551878" cy="261747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os canais trabalham juntos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.integração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O Instagram amplia a descoberta, a página de entrada segmenta e o WhatsApp aprofunda e mantém a relação.</a:t>
            </a:r>
          </a:p>
        </p:txBody>
      </p:sp>
      <p:sp>
        <p:nvSpPr>
          <p:cNvPr id="5" name="Cartão"/>
          <p:cNvSpPr/>
          <p:nvPr/>
        </p:nvSpPr>
        <p:spPr>
          <a:xfrm>
            <a:off x="762000" y="2365248"/>
            <a:ext cx="5230368" cy="1780032"/>
          </a:xfrm>
          <a:prstGeom prst="round2DiagRect">
            <a:avLst>
              <a:gd name="adj1" fmla="val 10958"/>
              <a:gd name="adj2" fmla="val 2054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Ícone"/>
          <p:cNvSpPr/>
          <p:nvPr/>
        </p:nvSpPr>
        <p:spPr>
          <a:xfrm>
            <a:off x="1030224" y="2609088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Ícone imagem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712720"/>
            <a:ext cx="231648" cy="231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5440" y="2609088"/>
            <a:ext cx="410870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3376B"/>
                </a:solidFill>
                <a:latin typeface="Sora"/>
              </a:rPr>
              <a:t>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3145536"/>
            <a:ext cx="4693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No dia de cada publicação, compartilhar o post com uma frase que indique por que vale abri-lo. Enquete ou caixa de perguntas só se houver alguém para acompanhar as respostas.</a:t>
            </a:r>
          </a:p>
        </p:txBody>
      </p:sp>
      <p:sp>
        <p:nvSpPr>
          <p:cNvPr id="10" name="Cartão"/>
          <p:cNvSpPr/>
          <p:nvPr/>
        </p:nvSpPr>
        <p:spPr>
          <a:xfrm>
            <a:off x="6199632" y="2365248"/>
            <a:ext cx="5230368" cy="1780032"/>
          </a:xfrm>
          <a:prstGeom prst="round2DiagRect">
            <a:avLst>
              <a:gd name="adj1" fmla="val 10958"/>
              <a:gd name="adj2" fmla="val 2054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Ícone"/>
          <p:cNvSpPr/>
          <p:nvPr/>
        </p:nvSpPr>
        <p:spPr>
          <a:xfrm>
            <a:off x="6467856" y="2609088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Ícone conversa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488" y="2712720"/>
            <a:ext cx="231648" cy="2316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3072" y="2609088"/>
            <a:ext cx="410870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3376B"/>
                </a:solidFill>
                <a:latin typeface="Sora"/>
              </a:rPr>
              <a:t>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3145536"/>
            <a:ext cx="4693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No máximo dois conteúdos do feed por semana aprofundados em mensagem curta. Pontes do mês: 08/10, 16/10, 22/10 e 28/10.</a:t>
            </a:r>
          </a:p>
        </p:txBody>
      </p:sp>
      <p:sp>
        <p:nvSpPr>
          <p:cNvPr id="15" name="Cartão"/>
          <p:cNvSpPr/>
          <p:nvPr/>
        </p:nvSpPr>
        <p:spPr>
          <a:xfrm>
            <a:off x="762000" y="4352544"/>
            <a:ext cx="5230368" cy="1780032"/>
          </a:xfrm>
          <a:prstGeom prst="round2DiagRect">
            <a:avLst>
              <a:gd name="adj1" fmla="val 10958"/>
              <a:gd name="adj2" fmla="val 2054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Ícone"/>
          <p:cNvSpPr/>
          <p:nvPr/>
        </p:nvSpPr>
        <p:spPr>
          <a:xfrm>
            <a:off x="1030224" y="4596384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Ícone cliqu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700016"/>
            <a:ext cx="231648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15440" y="4596384"/>
            <a:ext cx="410870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3376B"/>
                </a:solidFill>
                <a:latin typeface="Sora"/>
              </a:rPr>
              <a:t>Caminho de entrada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224" y="5132832"/>
            <a:ext cx="4693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Antes da primeira publicação, conferir que o link da bio leva à página de cadastro atual, e que cada pessoa chega à comunidade correta. Se o link não estiver ativo, trocar “link da bio” pelo caminho real nas legendas.</a:t>
            </a:r>
          </a:p>
        </p:txBody>
      </p:sp>
      <p:sp>
        <p:nvSpPr>
          <p:cNvPr id="20" name="Cartão"/>
          <p:cNvSpPr/>
          <p:nvPr/>
        </p:nvSpPr>
        <p:spPr>
          <a:xfrm>
            <a:off x="6199632" y="4352544"/>
            <a:ext cx="5230368" cy="1780032"/>
          </a:xfrm>
          <a:prstGeom prst="round2DiagRect">
            <a:avLst>
              <a:gd name="adj1" fmla="val 10958"/>
              <a:gd name="adj2" fmla="val 2054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Ícone"/>
          <p:cNvSpPr/>
          <p:nvPr/>
        </p:nvSpPr>
        <p:spPr>
          <a:xfrm>
            <a:off x="6467856" y="4596384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Ícone pessoas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488" y="4700016"/>
            <a:ext cx="231648" cy="2316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53072" y="4596384"/>
            <a:ext cx="410870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3376B"/>
                </a:solidFill>
                <a:latin typeface="Sora"/>
              </a:rPr>
              <a:t>Indicação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856" y="5132832"/>
            <a:ext cx="4693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3238"/>
                </a:solidFill>
                <a:latin typeface="Sora"/>
              </a:rPr>
              <a:t>Usar a mesma página e um código de origem próprio. Parceiros e bases próprias só divulgam depois de aprovar copy, origem da lista e link.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Dois lotes e um carrossel novo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.produção e operação</a:t>
            </a:r>
          </a:p>
        </p:txBody>
      </p:sp>
      <p:sp>
        <p:nvSpPr>
          <p:cNvPr id="4" name="Número"/>
          <p:cNvSpPr/>
          <p:nvPr/>
        </p:nvSpPr>
        <p:spPr>
          <a:xfrm>
            <a:off x="762000" y="1743456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165BB"/>
                </a:solidFill>
                <a:latin typeface="Sor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0368" y="1731264"/>
            <a:ext cx="10009632" cy="4766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376B"/>
                </a:solidFill>
                <a:latin typeface="Sora"/>
              </a:rPr>
              <a:t>02/10: </a:t>
            </a:r>
            <a:r>
              <a:rPr sz="1250" b="0" i="0">
                <a:solidFill>
                  <a:srgbClr val="2E3238"/>
                </a:solidFill>
                <a:latin typeface="Sora"/>
              </a:rPr>
              <a:t>fechar o link de entrada, revisar a bio e subir as três pastas de lâminas ao agendador. Os arquivos PREVIEW não são carrossel.</a:t>
            </a:r>
          </a:p>
        </p:txBody>
      </p:sp>
      <p:sp>
        <p:nvSpPr>
          <p:cNvPr id="6" name="Número"/>
          <p:cNvSpPr/>
          <p:nvPr/>
        </p:nvSpPr>
        <p:spPr>
          <a:xfrm>
            <a:off x="762000" y="2342007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165BB"/>
                </a:solidFill>
                <a:latin typeface="Sor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0368" y="2439257"/>
            <a:ext cx="10009632" cy="256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376B"/>
                </a:solidFill>
                <a:latin typeface="Sora"/>
              </a:rPr>
              <a:t>Lote 1: </a:t>
            </a:r>
            <a:r>
              <a:rPr sz="1250" b="0" i="0">
                <a:solidFill>
                  <a:srgbClr val="2E3238"/>
                </a:solidFill>
                <a:latin typeface="Sora"/>
              </a:rPr>
              <a:t>estáticos de 02 a 16/10, priorizando 02, 06, 10 e 12/10.</a:t>
            </a:r>
          </a:p>
        </p:txBody>
      </p:sp>
      <p:sp>
        <p:nvSpPr>
          <p:cNvPr id="8" name="Número"/>
          <p:cNvSpPr/>
          <p:nvPr/>
        </p:nvSpPr>
        <p:spPr>
          <a:xfrm>
            <a:off x="762000" y="2939415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165BB"/>
                </a:solidFill>
                <a:latin typeface="Sor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0368" y="3036665"/>
            <a:ext cx="10009632" cy="256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376B"/>
                </a:solidFill>
                <a:latin typeface="Sora"/>
              </a:rPr>
              <a:t>Lote 2: </a:t>
            </a:r>
            <a:r>
              <a:rPr sz="1250" b="0" i="0">
                <a:solidFill>
                  <a:srgbClr val="2E3238"/>
                </a:solidFill>
                <a:latin typeface="Sora"/>
              </a:rPr>
              <a:t>estáticos de 18 a 30/10 e o carrossel de 22/10, que concentra a maior carga de design.</a:t>
            </a:r>
          </a:p>
        </p:txBody>
      </p:sp>
      <p:sp>
        <p:nvSpPr>
          <p:cNvPr id="10" name="Número"/>
          <p:cNvSpPr/>
          <p:nvPr/>
        </p:nvSpPr>
        <p:spPr>
          <a:xfrm>
            <a:off x="762000" y="3536823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165BB"/>
                </a:solidFill>
                <a:latin typeface="Sor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0368" y="3634073"/>
            <a:ext cx="10009632" cy="256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376B"/>
                </a:solidFill>
                <a:latin typeface="Sora"/>
              </a:rPr>
              <a:t>Revisão: </a:t>
            </a:r>
            <a:r>
              <a:rPr sz="1250" b="0" i="0">
                <a:solidFill>
                  <a:srgbClr val="2E3238"/>
                </a:solidFill>
                <a:latin typeface="Sora"/>
              </a:rPr>
              <a:t>comunicação confere texto e CTA; profissional habilitado revisa qualquer afirmação técnica de saúde.</a:t>
            </a:r>
          </a:p>
        </p:txBody>
      </p:sp>
      <p:sp>
        <p:nvSpPr>
          <p:cNvPr id="12" name="Número"/>
          <p:cNvSpPr/>
          <p:nvPr/>
        </p:nvSpPr>
        <p:spPr>
          <a:xfrm>
            <a:off x="762000" y="4134231"/>
            <a:ext cx="438912" cy="438912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165BB"/>
                </a:solidFill>
                <a:latin typeface="Sor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0368" y="4122039"/>
            <a:ext cx="10009632" cy="4766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3376B"/>
                </a:solidFill>
                <a:latin typeface="Sora"/>
              </a:rPr>
              <a:t>Publicação: </a:t>
            </a:r>
            <a:r>
              <a:rPr sz="1250" b="0" i="0">
                <a:solidFill>
                  <a:srgbClr val="2E3238"/>
                </a:solidFill>
                <a:latin typeface="Sora"/>
              </a:rPr>
              <a:t>revisar capa, ordem das lâminas, acentuação, contraste, legenda, marcações e destino do link. Responder comentários e directs em janela diária.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7166"/>
            <a:ext cx="609600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.fluxo</a:t>
            </a:r>
          </a:p>
        </p:txBody>
      </p:sp>
      <p:sp>
        <p:nvSpPr>
          <p:cNvPr id="15" name="Etapa do fluxo"/>
          <p:cNvSpPr/>
          <p:nvPr/>
        </p:nvSpPr>
        <p:spPr>
          <a:xfrm>
            <a:off x="762000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728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planejamento</a:t>
            </a:r>
          </a:p>
        </p:txBody>
      </p:sp>
      <p:sp>
        <p:nvSpPr>
          <p:cNvPr id="17" name="Etapa do fluxo"/>
          <p:cNvSpPr/>
          <p:nvPr/>
        </p:nvSpPr>
        <p:spPr>
          <a:xfrm>
            <a:off x="2306901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6629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revisão da copy</a:t>
            </a:r>
          </a:p>
        </p:txBody>
      </p:sp>
      <p:sp>
        <p:nvSpPr>
          <p:cNvPr id="19" name="Etapa do fluxo"/>
          <p:cNvSpPr/>
          <p:nvPr/>
        </p:nvSpPr>
        <p:spPr>
          <a:xfrm>
            <a:off x="3851801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1529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checagem técnica</a:t>
            </a:r>
          </a:p>
        </p:txBody>
      </p:sp>
      <p:sp>
        <p:nvSpPr>
          <p:cNvPr id="21" name="Etapa do fluxo"/>
          <p:cNvSpPr/>
          <p:nvPr/>
        </p:nvSpPr>
        <p:spPr>
          <a:xfrm>
            <a:off x="5396702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6430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teste dos links</a:t>
            </a:r>
          </a:p>
        </p:txBody>
      </p:sp>
      <p:sp>
        <p:nvSpPr>
          <p:cNvPr id="23" name="Etapa do fluxo"/>
          <p:cNvSpPr/>
          <p:nvPr/>
        </p:nvSpPr>
        <p:spPr>
          <a:xfrm>
            <a:off x="6941602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1330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agendamento por comunidade</a:t>
            </a:r>
          </a:p>
        </p:txBody>
      </p:sp>
      <p:sp>
        <p:nvSpPr>
          <p:cNvPr id="25" name="Etapa do fluxo"/>
          <p:cNvSpPr/>
          <p:nvPr/>
        </p:nvSpPr>
        <p:spPr>
          <a:xfrm>
            <a:off x="8486503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6231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conferência após envio</a:t>
            </a:r>
          </a:p>
        </p:txBody>
      </p:sp>
      <p:sp>
        <p:nvSpPr>
          <p:cNvPr id="27" name="Etapa do fluxo"/>
          <p:cNvSpPr/>
          <p:nvPr/>
        </p:nvSpPr>
        <p:spPr>
          <a:xfrm>
            <a:off x="10031403" y="5122926"/>
            <a:ext cx="1398597" cy="780288"/>
          </a:xfrm>
          <a:prstGeom prst="round2DiagRect">
            <a:avLst>
              <a:gd name="adj1" fmla="val 14062"/>
              <a:gd name="adj2" fmla="val 31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1131" y="5122926"/>
            <a:ext cx="1179141" cy="780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registro de dados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vamos medir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.medição e ajustes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Com base pequena, variações de poucos membros parecem grandes em percentual: registramos números absolutos junto com as taxas.</a:t>
            </a:r>
          </a:p>
        </p:txBody>
      </p:sp>
      <p:pic>
        <p:nvPicPr>
          <p:cNvPr id="5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4496"/>
            <a:ext cx="268224" cy="26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912" y="2426208"/>
            <a:ext cx="5900928" cy="485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3376B"/>
                </a:solidFill>
                <a:latin typeface="Sora"/>
              </a:rPr>
              <a:t>Por publicação: </a:t>
            </a:r>
            <a:r>
              <a:rPr sz="1300" b="0" i="0">
                <a:solidFill>
                  <a:srgbClr val="03376B"/>
                </a:solidFill>
                <a:latin typeface="Sora"/>
              </a:rPr>
              <a:t>alcance, salvamentos, compartilhamentos, visitas ao perfil, cliques no link da bio e entradas confirmadas.</a:t>
            </a:r>
          </a:p>
        </p:txBody>
      </p:sp>
      <p:pic>
        <p:nvPicPr>
          <p:cNvPr id="7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6440"/>
            <a:ext cx="268224" cy="268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912" y="3168152"/>
            <a:ext cx="5900928" cy="710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3376B"/>
                </a:solidFill>
                <a:latin typeface="Sora"/>
              </a:rPr>
              <a:t>Por disparo e comunidade: </a:t>
            </a:r>
            <a:r>
              <a:rPr sz="1300" b="0" i="0">
                <a:solidFill>
                  <a:srgbClr val="03376B"/>
                </a:solidFill>
                <a:latin typeface="Sora"/>
              </a:rPr>
              <a:t>membros antes e depois, entradas, saídas, visualizações, cliques em links rastreados, votantes, reações e origem. Separar médicos de outras especialidades.</a:t>
            </a:r>
          </a:p>
        </p:txBody>
      </p:sp>
      <p:pic>
        <p:nvPicPr>
          <p:cNvPr id="9" name="Ícone check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53052"/>
            <a:ext cx="268224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0912" y="4134764"/>
            <a:ext cx="5900928" cy="485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3376B"/>
                </a:solidFill>
                <a:latin typeface="Sora"/>
              </a:rPr>
              <a:t>Taxa de resposta no grupo não é indicador </a:t>
            </a:r>
            <a:r>
              <a:rPr sz="1300" b="0" i="0">
                <a:solidFill>
                  <a:srgbClr val="03376B"/>
                </a:solidFill>
                <a:latin typeface="Sora"/>
              </a:rPr>
              <a:t>enquanto os membros não puderem publicar.</a:t>
            </a:r>
          </a:p>
        </p:txBody>
      </p:sp>
      <p:sp>
        <p:nvSpPr>
          <p:cNvPr id="11" name="Cartão"/>
          <p:cNvSpPr/>
          <p:nvPr/>
        </p:nvSpPr>
        <p:spPr>
          <a:xfrm>
            <a:off x="7467600" y="2426208"/>
            <a:ext cx="3962400" cy="2143841"/>
          </a:xfrm>
          <a:prstGeom prst="round2DiagRect">
            <a:avLst>
              <a:gd name="adj1" fmla="val 9099"/>
              <a:gd name="adj2" fmla="val 170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0208" y="2657856"/>
            <a:ext cx="3377184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.testes direcionais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0208" y="3048000"/>
            <a:ext cx="3377184" cy="15342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376B"/>
                </a:solidFill>
                <a:latin typeface="Sora"/>
              </a:rPr>
              <a:t>Convite de entrada com ângulo de gestão versus curadoria, em períodos distintos no Instagram, e quarta ao meio-dia versus sábado de manhã nas mensagens de utilidade. Sem tirar conclusão causal de uma única mensagem.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 de outubro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.medição e ajustes</a:t>
            </a:r>
          </a:p>
        </p:txBody>
      </p:sp>
      <p:graphicFrame>
        <p:nvGraphicFramePr>
          <p:cNvPr id="4" name="Checkpoints"/>
          <p:cNvGraphicFramePr>
            <a:graphicFrameLocks noGrp="1"/>
          </p:cNvGraphicFramePr>
          <p:nvPr/>
        </p:nvGraphicFramePr>
        <p:xfrm>
          <a:off x="762000" y="1645920"/>
          <a:ext cx="10668000" cy="4288917"/>
        </p:xfrm>
        <a:graphic>
          <a:graphicData uri="http://schemas.openxmlformats.org/drawingml/2006/table">
            <a:tbl>
              <a:tblPr/>
              <a:tblGrid>
                <a:gridCol w="755904"/>
                <a:gridCol w="2438400"/>
                <a:gridCol w="4267200"/>
                <a:gridCol w="3206496"/>
              </a:tblGrid>
              <a:tr h="379857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DATA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CHECKPOINT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VERIFICAR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SE ABAIXO DO ESPERADO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</a:tr>
              <a:tr h="737921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E3238"/>
                          </a:solidFill>
                          <a:latin typeface="Sora"/>
                        </a:rPr>
                        <a:t>02/10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3376B"/>
                          </a:solidFill>
                          <a:latin typeface="Sora"/>
                        </a:rPr>
                        <a:t>Conferência da linha de base das comunidades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E3238"/>
                          </a:solidFill>
                          <a:latin typeface="Sora"/>
                        </a:rPr>
                        <a:t>Linha de base (02/10): 364 membros, sendo 49 em Médicos e 315 em Outras Especialidades. Conferir permissões, link e origem; link da bio.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165BB"/>
                          </a:solidFill>
                          <a:latin typeface="Sora"/>
                        </a:rPr>
                        <a:t>Corrigir a operação antes do primeiro envio.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5099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E3238"/>
                          </a:solidFill>
                          <a:latin typeface="Sora"/>
                        </a:rPr>
                        <a:t>10/10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3376B"/>
                          </a:solidFill>
                          <a:latin typeface="Sora"/>
                        </a:rPr>
                        <a:t>Primeiras três mensagens e bio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E3238"/>
                          </a:solidFill>
                          <a:latin typeface="Sora"/>
                        </a:rPr>
                        <a:t>Visualização e saídas dos três primeiros disparos; cliques da bio.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165BB"/>
                          </a:solidFill>
                          <a:latin typeface="Sora"/>
                        </a:rPr>
                        <a:t>Encurtar ou espaçar se houver fadiga; revisar a bio se ninguém chega à página.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7921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E3238"/>
                          </a:solidFill>
                          <a:latin typeface="Sora"/>
                        </a:rPr>
                        <a:t>16/10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3376B"/>
                          </a:solidFill>
                          <a:latin typeface="Sora"/>
                        </a:rPr>
                        <a:t>Checkpoint do feed e das entradas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E3238"/>
                          </a:solidFill>
                          <a:latin typeface="Sora"/>
                        </a:rPr>
                        <a:t>Temas e formatos por salvamentos, compartilhamentos e visitas ao perfil; entradas por origem e reação aos conteúdos de gestão.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165BB"/>
                          </a:solidFill>
                          <a:latin typeface="Sora"/>
                        </a:rPr>
                        <a:t>Ajustar o gancho do convite e a pauta sem aumentar disparos; revisar bio, página ou formulário conforme o ponto de queda.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7921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E3238"/>
                          </a:solidFill>
                          <a:latin typeface="Sora"/>
                        </a:rPr>
                        <a:t>24/10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3376B"/>
                          </a:solidFill>
                          <a:latin typeface="Sora"/>
                        </a:rPr>
                        <a:t>Enquete de escuta (C07)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E3238"/>
                          </a:solidFill>
                          <a:latin typeface="Sora"/>
                        </a:rPr>
                        <a:t>Votantes e distribuição por comunidade, leitura em 26/10 às 12h.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165BB"/>
                          </a:solidFill>
                          <a:latin typeface="Sora"/>
                        </a:rPr>
                        <a:t>Mais votada não significa maioria. Com empate ou poucos votos, manter a versão base.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5099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E3238"/>
                          </a:solidFill>
                          <a:latin typeface="Sora"/>
                        </a:rPr>
                        <a:t>30/10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3376B"/>
                          </a:solidFill>
                          <a:latin typeface="Sora"/>
                        </a:rPr>
                        <a:t>Seleção de temas para novembro (Instagram)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E3238"/>
                          </a:solidFill>
                          <a:latin typeface="Sora"/>
                        </a:rPr>
                        <a:t>Perguntas e temas com melhor resposta no feed.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165BB"/>
                          </a:solidFill>
                          <a:latin typeface="Sora"/>
                        </a:rPr>
                        <a:t>Alimentar o calendário de novembro.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5099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E3238"/>
                          </a:solidFill>
                          <a:latin typeface="Sora"/>
                        </a:rPr>
                        <a:t>31/10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3376B"/>
                          </a:solidFill>
                          <a:latin typeface="Sora"/>
                        </a:rPr>
                        <a:t>Fechamento de outubro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E3238"/>
                          </a:solidFill>
                          <a:latin typeface="Sora"/>
                        </a:rPr>
                        <a:t>Crescimento líquido, permanência, temas pedidos e origem das entradas.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165BB"/>
                          </a:solidFill>
                          <a:latin typeface="Sora"/>
                        </a:rPr>
                        <a:t>Selecionar a pauta de novembro e documentar o que reduzir ou repetir.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precisa estar resolvido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.dependências e status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265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165BB"/>
                </a:solidFill>
                <a:latin typeface="Sora"/>
              </a:rPr>
              <a:t>Não há neste plano parceiro, condição comercial, depoimento, estatística de resultado ou meta de crescimento.</a:t>
            </a:r>
          </a:p>
        </p:txBody>
      </p:sp>
      <p:graphicFrame>
        <p:nvGraphicFramePr>
          <p:cNvPr id="5" name="Dependências"/>
          <p:cNvGraphicFramePr>
            <a:graphicFrameLocks noGrp="1"/>
          </p:cNvGraphicFramePr>
          <p:nvPr/>
        </p:nvGraphicFramePr>
        <p:xfrm>
          <a:off x="762000" y="2316480"/>
          <a:ext cx="10668000" cy="2968616"/>
        </p:xfrm>
        <a:graphic>
          <a:graphicData uri="http://schemas.openxmlformats.org/drawingml/2006/table">
            <a:tbl>
              <a:tblPr/>
              <a:tblGrid>
                <a:gridCol w="3779520"/>
                <a:gridCol w="1706880"/>
                <a:gridCol w="853440"/>
                <a:gridCol w="4328160"/>
              </a:tblGrid>
              <a:tr h="379857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DEPENDÊNCIA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RESPONSÁVEL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PRAZO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i="0" spc="80">
                          <a:solidFill>
                            <a:srgbClr val="656C77"/>
                          </a:solidFill>
                          <a:latin typeface="Sora"/>
                        </a:rPr>
                        <a:t>POR QUE IMPORTA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6F9"/>
                    </a:solidFill>
                  </a:tcPr>
                </a:tc>
              </a:tr>
              <a:tr h="599664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3376B"/>
                          </a:solidFill>
                          <a:latin typeface="Sora"/>
                        </a:rPr>
                        <a:t>Testar o link da bio (a linha de base de membros já está definida)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FOCO + HLS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2E3238"/>
                          </a:solidFill>
                          <a:latin typeface="Sora"/>
                        </a:rPr>
                        <a:t>02/10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A bio precisa levar à comunidade certa antes da primeira publicação.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9767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3376B"/>
                          </a:solidFill>
                          <a:latin typeface="Sora"/>
                        </a:rPr>
                        <a:t>Analista de métricas e responsável por respostas e atendimento: Hamilton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Hamilton (FOCO)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2E3238"/>
                          </a:solidFill>
                          <a:latin typeface="Sora"/>
                        </a:rPr>
                        <a:t>02/10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Métricas dependem de relatórios em 02, 16 e 31/10; respostas externas passam a ser diárias após formulário e convite.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9664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3376B"/>
                          </a:solidFill>
                          <a:latin typeface="Sora"/>
                        </a:rPr>
                        <a:t>Gerar e testar os links rastreados da LP validada (disparo C08 de 28/10)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Hamilton (FOCO)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2E3238"/>
                          </a:solidFill>
                          <a:latin typeface="Sora"/>
                        </a:rPr>
                        <a:t>27/10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Sem links rastreados não há origem das indicações; sem eles, o convite não é enviado e C09 é antecipada.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9664"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3376B"/>
                          </a:solidFill>
                          <a:latin typeface="Sora"/>
                        </a:rPr>
                        <a:t>Arte do carrossel de 22/10 (7 lâminas, 1080 x 1350 px)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Designer do Instagram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2E3238"/>
                          </a:solidFill>
                          <a:latin typeface="Sora"/>
                        </a:rPr>
                        <a:t>21/10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4112" tIns="109728" rIns="134112" bIns="109728" anchor="t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E3238"/>
                          </a:solidFill>
                          <a:latin typeface="Sora"/>
                        </a:rPr>
                        <a:t>É a maior carga de design do mês; o roteiro e a legenda já estão escritos.</a:t>
                      </a:r>
                    </a:p>
                  </a:txBody>
                  <a:tcPr marL="134112" marR="134112" marT="109728" marB="109728" anchor="t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3D8E0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Ícone inf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528935"/>
            <a:ext cx="231648" cy="23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3376" y="5528935"/>
            <a:ext cx="103266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D535C"/>
                </a:solidFill>
                <a:latin typeface="Sora"/>
              </a:rPr>
              <a:t>Pendências de QA: revisão técnica, permissões, links e rastreamento testados.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Observações importantes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.antes de validar</a:t>
            </a:r>
          </a:p>
        </p:txBody>
      </p:sp>
      <p:pic>
        <p:nvPicPr>
          <p:cNvPr id="4" name="Ícone se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47088"/>
            <a:ext cx="268224" cy="268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0912" y="1828800"/>
            <a:ext cx="9070848" cy="57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3376B"/>
                </a:solidFill>
                <a:latin typeface="Sora"/>
              </a:rPr>
              <a:t>Ofertas não vão para o feed em nenhuma hipótese: são reveladas apenas a quem já está na comunidade do WhatsApp.</a:t>
            </a:r>
          </a:p>
        </p:txBody>
      </p:sp>
      <p:pic>
        <p:nvPicPr>
          <p:cNvPr id="6" name="Ícone se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99827"/>
            <a:ext cx="268224" cy="26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0912" y="2681539"/>
            <a:ext cx="9070848" cy="57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3376B"/>
                </a:solidFill>
                <a:latin typeface="Sora"/>
              </a:rPr>
              <a:t>Afirmações técnicas de saúde passam por revisão de profissional habilitado antes da publicação.</a:t>
            </a:r>
          </a:p>
        </p:txBody>
      </p:sp>
      <p:pic>
        <p:nvPicPr>
          <p:cNvPr id="8" name="Ícone se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52566"/>
            <a:ext cx="268224" cy="268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912" y="3534278"/>
            <a:ext cx="9070848" cy="304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3376B"/>
                </a:solidFill>
                <a:latin typeface="Sora"/>
              </a:rPr>
              <a:t>Sem números, depoimentos ou promessas não documentados nas peças.</a:t>
            </a:r>
          </a:p>
        </p:txBody>
      </p:sp>
      <p:pic>
        <p:nvPicPr>
          <p:cNvPr id="10" name="Ícone se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37431"/>
            <a:ext cx="268224" cy="26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912" y="4119143"/>
            <a:ext cx="9070848" cy="304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3376B"/>
                </a:solidFill>
                <a:latin typeface="Sora"/>
              </a:rPr>
              <a:t>Se o link da bio não estiver ativo, trocamos “link da bio” pelo caminho real nas legendas.</a:t>
            </a:r>
          </a:p>
        </p:txBody>
      </p:sp>
      <p:pic>
        <p:nvPicPr>
          <p:cNvPr id="12" name="Ícone seta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22297"/>
            <a:ext cx="268224" cy="268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0912" y="4704009"/>
            <a:ext cx="9070848" cy="5723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3376B"/>
                </a:solidFill>
                <a:latin typeface="Sora"/>
              </a:rPr>
              <a:t>Sem link testado em C07 ou C08, usamos a alternativa sem link; sem página validada em 28/10, o convite não é enviado.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Agenda de outubro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Instagram, comunidades no WhatsApp, checkpoints de métricas e decisões com prazo, de 02 a 31/10</a:t>
            </a:r>
          </a:p>
        </p:txBody>
      </p:sp>
      <p:sp>
        <p:nvSpPr>
          <p:cNvPr id="4" name="Rótulo"/>
          <p:cNvSpPr txBox="1"/>
          <p:nvPr/>
        </p:nvSpPr>
        <p:spPr>
          <a:xfrm>
            <a:off x="762000" y="2462784"/>
            <a:ext cx="8534400" cy="31699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8E7FA"/>
                </a:solidFill>
                <a:latin typeface="Montserrat Alternates"/>
              </a:rPr>
              <a:t>.agenda</a:t>
            </a:r>
          </a:p>
        </p:txBody>
      </p:sp>
      <p:sp>
        <p:nvSpPr>
          <p:cNvPr id="5" name="Versão"/>
          <p:cNvSpPr txBox="1"/>
          <p:nvPr/>
        </p:nvSpPr>
        <p:spPr>
          <a:xfrm>
            <a:off x="6553200" y="6199632"/>
            <a:ext cx="4876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9D2F7"/>
                </a:solidFill>
                <a:latin typeface="Sora"/>
              </a:rPr>
              <a:t>Versão para validação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Outubro de 2026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.agenda</a:t>
            </a:r>
          </a:p>
        </p:txBody>
      </p:sp>
      <p:sp>
        <p:nvSpPr>
          <p:cNvPr id="4" name="Tag Instagram · feed"/>
          <p:cNvSpPr/>
          <p:nvPr/>
        </p:nvSpPr>
        <p:spPr>
          <a:xfrm>
            <a:off x="762000" y="1621536"/>
            <a:ext cx="1278305" cy="261747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ora"/>
              </a:rPr>
              <a:t>Instagram · feed</a:t>
            </a:r>
          </a:p>
        </p:txBody>
      </p:sp>
      <p:sp>
        <p:nvSpPr>
          <p:cNvPr id="5" name="Tag WhatsApp · disparos"/>
          <p:cNvSpPr/>
          <p:nvPr/>
        </p:nvSpPr>
        <p:spPr>
          <a:xfrm>
            <a:off x="2186609" y="1621536"/>
            <a:ext cx="1574868" cy="261747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ora"/>
              </a:rPr>
              <a:t>WhatsApp · disparos</a:t>
            </a:r>
          </a:p>
        </p:txBody>
      </p:sp>
      <p:sp>
        <p:nvSpPr>
          <p:cNvPr id="6" name="Tag Checkpoint de métricas"/>
          <p:cNvSpPr/>
          <p:nvPr/>
        </p:nvSpPr>
        <p:spPr>
          <a:xfrm>
            <a:off x="3907781" y="1621536"/>
            <a:ext cx="1780567" cy="261747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Checkpoint de métricas</a:t>
            </a:r>
          </a:p>
        </p:txBody>
      </p:sp>
      <p:sp>
        <p:nvSpPr>
          <p:cNvPr id="7" name="Tag Decisão com prazo"/>
          <p:cNvSpPr/>
          <p:nvPr/>
        </p:nvSpPr>
        <p:spPr>
          <a:xfrm>
            <a:off x="5834651" y="1621536"/>
            <a:ext cx="1458931" cy="261747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Decisão com prazo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SEG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QUA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SEX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SÁB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0" y="2072640"/>
            <a:ext cx="1524000" cy="316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6C77"/>
                </a:solidFill>
                <a:latin typeface="Sora"/>
              </a:rPr>
              <a:t>DOM</a:t>
            </a:r>
          </a:p>
        </p:txBody>
      </p:sp>
      <p:sp>
        <p:nvSpPr>
          <p:cNvPr id="15" name="Dia 2026-09-28"/>
          <p:cNvSpPr/>
          <p:nvPr/>
        </p:nvSpPr>
        <p:spPr>
          <a:xfrm>
            <a:off x="762000" y="2389632"/>
            <a:ext cx="1524000" cy="755904"/>
          </a:xfrm>
          <a:prstGeom prst="rect">
            <a:avLst/>
          </a:prstGeom>
          <a:solidFill>
            <a:srgbClr val="F4F6F9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BAC5"/>
                </a:solidFill>
                <a:latin typeface="Sora"/>
              </a:rPr>
              <a:t>28</a:t>
            </a:r>
          </a:p>
        </p:txBody>
      </p:sp>
      <p:sp>
        <p:nvSpPr>
          <p:cNvPr id="17" name="Dia 2026-09-29"/>
          <p:cNvSpPr/>
          <p:nvPr/>
        </p:nvSpPr>
        <p:spPr>
          <a:xfrm>
            <a:off x="2286000" y="2389632"/>
            <a:ext cx="1524000" cy="755904"/>
          </a:xfrm>
          <a:prstGeom prst="rect">
            <a:avLst/>
          </a:prstGeom>
          <a:solidFill>
            <a:srgbClr val="F4F6F9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3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BAC5"/>
                </a:solidFill>
                <a:latin typeface="Sora"/>
              </a:rPr>
              <a:t>29</a:t>
            </a:r>
          </a:p>
        </p:txBody>
      </p:sp>
      <p:sp>
        <p:nvSpPr>
          <p:cNvPr id="19" name="Dia 2026-09-30"/>
          <p:cNvSpPr/>
          <p:nvPr/>
        </p:nvSpPr>
        <p:spPr>
          <a:xfrm>
            <a:off x="3810000" y="2389632"/>
            <a:ext cx="1524000" cy="755904"/>
          </a:xfrm>
          <a:prstGeom prst="rect">
            <a:avLst/>
          </a:prstGeom>
          <a:solidFill>
            <a:srgbClr val="F4F6F9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7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BAC5"/>
                </a:solidFill>
                <a:latin typeface="Sora"/>
              </a:rPr>
              <a:t>30</a:t>
            </a:r>
          </a:p>
        </p:txBody>
      </p:sp>
      <p:sp>
        <p:nvSpPr>
          <p:cNvPr id="21" name="Dia 2026-10-01"/>
          <p:cNvSpPr/>
          <p:nvPr/>
        </p:nvSpPr>
        <p:spPr>
          <a:xfrm>
            <a:off x="5334000" y="2389632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</a:t>
            </a:r>
          </a:p>
        </p:txBody>
      </p:sp>
      <p:sp>
        <p:nvSpPr>
          <p:cNvPr id="23" name="Dia 2026-10-02"/>
          <p:cNvSpPr/>
          <p:nvPr/>
        </p:nvSpPr>
        <p:spPr>
          <a:xfrm>
            <a:off x="6858000" y="2389632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5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</a:t>
            </a:r>
          </a:p>
        </p:txBody>
      </p:sp>
      <p:sp>
        <p:nvSpPr>
          <p:cNvPr id="25" name="IG-01"/>
          <p:cNvSpPr/>
          <p:nvPr/>
        </p:nvSpPr>
        <p:spPr>
          <a:xfrm>
            <a:off x="6955536" y="2718816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26" name="CK-01"/>
          <p:cNvSpPr/>
          <p:nvPr/>
        </p:nvSpPr>
        <p:spPr>
          <a:xfrm>
            <a:off x="7644384" y="2718816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Métricas</a:t>
            </a:r>
          </a:p>
        </p:txBody>
      </p:sp>
      <p:sp>
        <p:nvSpPr>
          <p:cNvPr id="27" name="DC-09"/>
          <p:cNvSpPr/>
          <p:nvPr/>
        </p:nvSpPr>
        <p:spPr>
          <a:xfrm>
            <a:off x="6955536" y="295656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28" name="DC-11"/>
          <p:cNvSpPr/>
          <p:nvPr/>
        </p:nvSpPr>
        <p:spPr>
          <a:xfrm>
            <a:off x="7644384" y="295656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29" name="Dia 2026-10-03"/>
          <p:cNvSpPr/>
          <p:nvPr/>
        </p:nvSpPr>
        <p:spPr>
          <a:xfrm>
            <a:off x="8382000" y="2389632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9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3</a:t>
            </a:r>
          </a:p>
        </p:txBody>
      </p:sp>
      <p:sp>
        <p:nvSpPr>
          <p:cNvPr id="31" name="Dia 2026-10-04"/>
          <p:cNvSpPr/>
          <p:nvPr/>
        </p:nvSpPr>
        <p:spPr>
          <a:xfrm>
            <a:off x="9906000" y="2389632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03536" y="2450592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4</a:t>
            </a:r>
          </a:p>
        </p:txBody>
      </p:sp>
      <p:sp>
        <p:nvSpPr>
          <p:cNvPr id="33" name="IG-02"/>
          <p:cNvSpPr/>
          <p:nvPr/>
        </p:nvSpPr>
        <p:spPr>
          <a:xfrm>
            <a:off x="10003536" y="2718816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10h</a:t>
            </a:r>
          </a:p>
        </p:txBody>
      </p:sp>
      <p:sp>
        <p:nvSpPr>
          <p:cNvPr id="34" name="Dia 2026-10-05"/>
          <p:cNvSpPr/>
          <p:nvPr/>
        </p:nvSpPr>
        <p:spPr>
          <a:xfrm>
            <a:off x="762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5</a:t>
            </a:r>
          </a:p>
        </p:txBody>
      </p:sp>
      <p:sp>
        <p:nvSpPr>
          <p:cNvPr id="36" name="C01"/>
          <p:cNvSpPr/>
          <p:nvPr/>
        </p:nvSpPr>
        <p:spPr>
          <a:xfrm>
            <a:off x="859536" y="347472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C01</a:t>
            </a:r>
          </a:p>
        </p:txBody>
      </p:sp>
      <p:sp>
        <p:nvSpPr>
          <p:cNvPr id="37" name="Dia 2026-10-06"/>
          <p:cNvSpPr/>
          <p:nvPr/>
        </p:nvSpPr>
        <p:spPr>
          <a:xfrm>
            <a:off x="2286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3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6</a:t>
            </a:r>
          </a:p>
        </p:txBody>
      </p:sp>
      <p:sp>
        <p:nvSpPr>
          <p:cNvPr id="39" name="IG-03"/>
          <p:cNvSpPr/>
          <p:nvPr/>
        </p:nvSpPr>
        <p:spPr>
          <a:xfrm>
            <a:off x="2383536" y="347472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12:30</a:t>
            </a:r>
          </a:p>
        </p:txBody>
      </p:sp>
      <p:sp>
        <p:nvSpPr>
          <p:cNvPr id="40" name="Dia 2026-10-07"/>
          <p:cNvSpPr/>
          <p:nvPr/>
        </p:nvSpPr>
        <p:spPr>
          <a:xfrm>
            <a:off x="3810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7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7</a:t>
            </a:r>
          </a:p>
        </p:txBody>
      </p:sp>
      <p:sp>
        <p:nvSpPr>
          <p:cNvPr id="42" name="C02"/>
          <p:cNvSpPr/>
          <p:nvPr/>
        </p:nvSpPr>
        <p:spPr>
          <a:xfrm>
            <a:off x="3907536" y="347472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C02</a:t>
            </a:r>
          </a:p>
        </p:txBody>
      </p:sp>
      <p:sp>
        <p:nvSpPr>
          <p:cNvPr id="43" name="Dia 2026-10-08"/>
          <p:cNvSpPr/>
          <p:nvPr/>
        </p:nvSpPr>
        <p:spPr>
          <a:xfrm>
            <a:off x="5334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1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8</a:t>
            </a:r>
          </a:p>
        </p:txBody>
      </p:sp>
      <p:sp>
        <p:nvSpPr>
          <p:cNvPr id="45" name="IG-04"/>
          <p:cNvSpPr/>
          <p:nvPr/>
        </p:nvSpPr>
        <p:spPr>
          <a:xfrm>
            <a:off x="5431536" y="347472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46" name="Dia 2026-10-09"/>
          <p:cNvSpPr/>
          <p:nvPr/>
        </p:nvSpPr>
        <p:spPr>
          <a:xfrm>
            <a:off x="6858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55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9</a:t>
            </a:r>
          </a:p>
        </p:txBody>
      </p:sp>
      <p:sp>
        <p:nvSpPr>
          <p:cNvPr id="48" name="Dia 2026-10-10"/>
          <p:cNvSpPr/>
          <p:nvPr/>
        </p:nvSpPr>
        <p:spPr>
          <a:xfrm>
            <a:off x="8382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79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10</a:t>
            </a:r>
          </a:p>
        </p:txBody>
      </p:sp>
      <p:sp>
        <p:nvSpPr>
          <p:cNvPr id="50" name="IG-05"/>
          <p:cNvSpPr/>
          <p:nvPr/>
        </p:nvSpPr>
        <p:spPr>
          <a:xfrm>
            <a:off x="8479536" y="347472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10h</a:t>
            </a:r>
          </a:p>
        </p:txBody>
      </p:sp>
      <p:sp>
        <p:nvSpPr>
          <p:cNvPr id="51" name="C03"/>
          <p:cNvSpPr/>
          <p:nvPr/>
        </p:nvSpPr>
        <p:spPr>
          <a:xfrm>
            <a:off x="9168384" y="3474720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C03</a:t>
            </a:r>
          </a:p>
        </p:txBody>
      </p:sp>
      <p:sp>
        <p:nvSpPr>
          <p:cNvPr id="52" name="CK-02"/>
          <p:cNvSpPr/>
          <p:nvPr/>
        </p:nvSpPr>
        <p:spPr>
          <a:xfrm>
            <a:off x="8479536" y="371246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Métricas</a:t>
            </a:r>
          </a:p>
        </p:txBody>
      </p:sp>
      <p:sp>
        <p:nvSpPr>
          <p:cNvPr id="53" name="Dia 2026-10-11"/>
          <p:cNvSpPr/>
          <p:nvPr/>
        </p:nvSpPr>
        <p:spPr>
          <a:xfrm>
            <a:off x="9906000" y="3145536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03536" y="3206496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11</a:t>
            </a:r>
          </a:p>
        </p:txBody>
      </p:sp>
      <p:sp>
        <p:nvSpPr>
          <p:cNvPr id="55" name="Dia 2026-10-12"/>
          <p:cNvSpPr/>
          <p:nvPr/>
        </p:nvSpPr>
        <p:spPr>
          <a:xfrm>
            <a:off x="762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12</a:t>
            </a:r>
          </a:p>
        </p:txBody>
      </p:sp>
      <p:sp>
        <p:nvSpPr>
          <p:cNvPr id="57" name="IG-06"/>
          <p:cNvSpPr/>
          <p:nvPr/>
        </p:nvSpPr>
        <p:spPr>
          <a:xfrm>
            <a:off x="859536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58" name="Dia 2026-10-13"/>
          <p:cNvSpPr/>
          <p:nvPr/>
        </p:nvSpPr>
        <p:spPr>
          <a:xfrm>
            <a:off x="2286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83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13</a:t>
            </a:r>
          </a:p>
        </p:txBody>
      </p:sp>
      <p:sp>
        <p:nvSpPr>
          <p:cNvPr id="60" name="Dia 2026-10-14"/>
          <p:cNvSpPr/>
          <p:nvPr/>
        </p:nvSpPr>
        <p:spPr>
          <a:xfrm>
            <a:off x="3810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07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14</a:t>
            </a:r>
          </a:p>
        </p:txBody>
      </p:sp>
      <p:sp>
        <p:nvSpPr>
          <p:cNvPr id="62" name="IG-07"/>
          <p:cNvSpPr/>
          <p:nvPr/>
        </p:nvSpPr>
        <p:spPr>
          <a:xfrm>
            <a:off x="3907536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12:30</a:t>
            </a:r>
          </a:p>
        </p:txBody>
      </p:sp>
      <p:sp>
        <p:nvSpPr>
          <p:cNvPr id="63" name="C04"/>
          <p:cNvSpPr/>
          <p:nvPr/>
        </p:nvSpPr>
        <p:spPr>
          <a:xfrm>
            <a:off x="4596384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C04</a:t>
            </a:r>
          </a:p>
        </p:txBody>
      </p:sp>
      <p:sp>
        <p:nvSpPr>
          <p:cNvPr id="64" name="Dia 2026-10-15"/>
          <p:cNvSpPr/>
          <p:nvPr/>
        </p:nvSpPr>
        <p:spPr>
          <a:xfrm>
            <a:off x="5334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31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15</a:t>
            </a:r>
          </a:p>
        </p:txBody>
      </p:sp>
      <p:sp>
        <p:nvSpPr>
          <p:cNvPr id="66" name="Dia 2026-10-16"/>
          <p:cNvSpPr/>
          <p:nvPr/>
        </p:nvSpPr>
        <p:spPr>
          <a:xfrm>
            <a:off x="6858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55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16</a:t>
            </a:r>
          </a:p>
        </p:txBody>
      </p:sp>
      <p:sp>
        <p:nvSpPr>
          <p:cNvPr id="68" name="IG-08"/>
          <p:cNvSpPr/>
          <p:nvPr/>
        </p:nvSpPr>
        <p:spPr>
          <a:xfrm>
            <a:off x="6955536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69" name="CK-03"/>
          <p:cNvSpPr/>
          <p:nvPr/>
        </p:nvSpPr>
        <p:spPr>
          <a:xfrm>
            <a:off x="7644384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Métricas</a:t>
            </a:r>
          </a:p>
        </p:txBody>
      </p:sp>
      <p:sp>
        <p:nvSpPr>
          <p:cNvPr id="70" name="Dia 2026-10-17"/>
          <p:cNvSpPr/>
          <p:nvPr/>
        </p:nvSpPr>
        <p:spPr>
          <a:xfrm>
            <a:off x="8382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9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17</a:t>
            </a:r>
          </a:p>
        </p:txBody>
      </p:sp>
      <p:sp>
        <p:nvSpPr>
          <p:cNvPr id="72" name="C05"/>
          <p:cNvSpPr/>
          <p:nvPr/>
        </p:nvSpPr>
        <p:spPr>
          <a:xfrm>
            <a:off x="8479536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C05</a:t>
            </a:r>
          </a:p>
        </p:txBody>
      </p:sp>
      <p:sp>
        <p:nvSpPr>
          <p:cNvPr id="73" name="Dia 2026-10-18"/>
          <p:cNvSpPr/>
          <p:nvPr/>
        </p:nvSpPr>
        <p:spPr>
          <a:xfrm>
            <a:off x="9906000" y="3901440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03536" y="3962400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18</a:t>
            </a:r>
          </a:p>
        </p:txBody>
      </p:sp>
      <p:sp>
        <p:nvSpPr>
          <p:cNvPr id="75" name="IG-09"/>
          <p:cNvSpPr/>
          <p:nvPr/>
        </p:nvSpPr>
        <p:spPr>
          <a:xfrm>
            <a:off x="10003536" y="4230624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10h</a:t>
            </a:r>
          </a:p>
        </p:txBody>
      </p:sp>
      <p:sp>
        <p:nvSpPr>
          <p:cNvPr id="76" name="Dia 2026-10-19"/>
          <p:cNvSpPr/>
          <p:nvPr/>
        </p:nvSpPr>
        <p:spPr>
          <a:xfrm>
            <a:off x="762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19</a:t>
            </a:r>
          </a:p>
        </p:txBody>
      </p:sp>
      <p:sp>
        <p:nvSpPr>
          <p:cNvPr id="78" name="Dia 2026-10-20"/>
          <p:cNvSpPr/>
          <p:nvPr/>
        </p:nvSpPr>
        <p:spPr>
          <a:xfrm>
            <a:off x="2286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83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20</a:t>
            </a:r>
          </a:p>
        </p:txBody>
      </p:sp>
      <p:sp>
        <p:nvSpPr>
          <p:cNvPr id="80" name="IG-10"/>
          <p:cNvSpPr/>
          <p:nvPr/>
        </p:nvSpPr>
        <p:spPr>
          <a:xfrm>
            <a:off x="2383536" y="4986528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12:30</a:t>
            </a:r>
          </a:p>
        </p:txBody>
      </p:sp>
      <p:sp>
        <p:nvSpPr>
          <p:cNvPr id="81" name="Dia 2026-10-21"/>
          <p:cNvSpPr/>
          <p:nvPr/>
        </p:nvSpPr>
        <p:spPr>
          <a:xfrm>
            <a:off x="3810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07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21</a:t>
            </a:r>
          </a:p>
        </p:txBody>
      </p:sp>
      <p:sp>
        <p:nvSpPr>
          <p:cNvPr id="83" name="C06"/>
          <p:cNvSpPr/>
          <p:nvPr/>
        </p:nvSpPr>
        <p:spPr>
          <a:xfrm>
            <a:off x="3907536" y="4986528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C06</a:t>
            </a:r>
          </a:p>
        </p:txBody>
      </p:sp>
      <p:sp>
        <p:nvSpPr>
          <p:cNvPr id="84" name="DC-14"/>
          <p:cNvSpPr/>
          <p:nvPr/>
        </p:nvSpPr>
        <p:spPr>
          <a:xfrm>
            <a:off x="4596384" y="4986528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85" name="Dia 2026-10-22"/>
          <p:cNvSpPr/>
          <p:nvPr/>
        </p:nvSpPr>
        <p:spPr>
          <a:xfrm>
            <a:off x="5334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31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22</a:t>
            </a:r>
          </a:p>
        </p:txBody>
      </p:sp>
      <p:sp>
        <p:nvSpPr>
          <p:cNvPr id="87" name="IG-11"/>
          <p:cNvSpPr/>
          <p:nvPr/>
        </p:nvSpPr>
        <p:spPr>
          <a:xfrm>
            <a:off x="5431536" y="4986528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88" name="Dia 2026-10-23"/>
          <p:cNvSpPr/>
          <p:nvPr/>
        </p:nvSpPr>
        <p:spPr>
          <a:xfrm>
            <a:off x="6858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55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23</a:t>
            </a:r>
          </a:p>
        </p:txBody>
      </p:sp>
      <p:sp>
        <p:nvSpPr>
          <p:cNvPr id="90" name="Dia 2026-10-24"/>
          <p:cNvSpPr/>
          <p:nvPr/>
        </p:nvSpPr>
        <p:spPr>
          <a:xfrm>
            <a:off x="8382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79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24</a:t>
            </a:r>
          </a:p>
        </p:txBody>
      </p:sp>
      <p:sp>
        <p:nvSpPr>
          <p:cNvPr id="92" name="IG-12"/>
          <p:cNvSpPr/>
          <p:nvPr/>
        </p:nvSpPr>
        <p:spPr>
          <a:xfrm>
            <a:off x="8479536" y="4986528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10h</a:t>
            </a:r>
          </a:p>
        </p:txBody>
      </p:sp>
      <p:sp>
        <p:nvSpPr>
          <p:cNvPr id="93" name="C07"/>
          <p:cNvSpPr/>
          <p:nvPr/>
        </p:nvSpPr>
        <p:spPr>
          <a:xfrm>
            <a:off x="9168384" y="4986528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C07</a:t>
            </a:r>
          </a:p>
        </p:txBody>
      </p:sp>
      <p:sp>
        <p:nvSpPr>
          <p:cNvPr id="94" name="CK-04"/>
          <p:cNvSpPr/>
          <p:nvPr/>
        </p:nvSpPr>
        <p:spPr>
          <a:xfrm>
            <a:off x="8479536" y="522427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Métricas</a:t>
            </a:r>
          </a:p>
        </p:txBody>
      </p:sp>
      <p:sp>
        <p:nvSpPr>
          <p:cNvPr id="95" name="Dia 2026-10-25"/>
          <p:cNvSpPr/>
          <p:nvPr/>
        </p:nvSpPr>
        <p:spPr>
          <a:xfrm>
            <a:off x="9906000" y="4657344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03536" y="4718304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25</a:t>
            </a:r>
          </a:p>
        </p:txBody>
      </p:sp>
      <p:sp>
        <p:nvSpPr>
          <p:cNvPr id="97" name="Dia 2026-10-26"/>
          <p:cNvSpPr/>
          <p:nvPr/>
        </p:nvSpPr>
        <p:spPr>
          <a:xfrm>
            <a:off x="762000" y="5413248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9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26</a:t>
            </a:r>
          </a:p>
        </p:txBody>
      </p:sp>
      <p:sp>
        <p:nvSpPr>
          <p:cNvPr id="99" name="IG-13"/>
          <p:cNvSpPr/>
          <p:nvPr/>
        </p:nvSpPr>
        <p:spPr>
          <a:xfrm>
            <a:off x="859536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100" name="Dia 2026-10-27"/>
          <p:cNvSpPr/>
          <p:nvPr/>
        </p:nvSpPr>
        <p:spPr>
          <a:xfrm>
            <a:off x="2286000" y="5413248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83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27</a:t>
            </a:r>
          </a:p>
        </p:txBody>
      </p:sp>
      <p:sp>
        <p:nvSpPr>
          <p:cNvPr id="102" name="DC-13"/>
          <p:cNvSpPr/>
          <p:nvPr/>
        </p:nvSpPr>
        <p:spPr>
          <a:xfrm>
            <a:off x="2383536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103" name="Dia 2026-10-28"/>
          <p:cNvSpPr/>
          <p:nvPr/>
        </p:nvSpPr>
        <p:spPr>
          <a:xfrm>
            <a:off x="3810000" y="5413248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907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28</a:t>
            </a:r>
          </a:p>
        </p:txBody>
      </p:sp>
      <p:sp>
        <p:nvSpPr>
          <p:cNvPr id="105" name="IG-14"/>
          <p:cNvSpPr/>
          <p:nvPr/>
        </p:nvSpPr>
        <p:spPr>
          <a:xfrm>
            <a:off x="3907536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12:30</a:t>
            </a:r>
          </a:p>
        </p:txBody>
      </p:sp>
      <p:sp>
        <p:nvSpPr>
          <p:cNvPr id="106" name="C08"/>
          <p:cNvSpPr/>
          <p:nvPr/>
        </p:nvSpPr>
        <p:spPr>
          <a:xfrm>
            <a:off x="4596384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C08</a:t>
            </a:r>
          </a:p>
        </p:txBody>
      </p:sp>
      <p:sp>
        <p:nvSpPr>
          <p:cNvPr id="107" name="Dia 2026-10-29"/>
          <p:cNvSpPr/>
          <p:nvPr/>
        </p:nvSpPr>
        <p:spPr>
          <a:xfrm>
            <a:off x="5334000" y="5413248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31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29</a:t>
            </a:r>
          </a:p>
        </p:txBody>
      </p:sp>
      <p:sp>
        <p:nvSpPr>
          <p:cNvPr id="109" name="Dia 2026-10-30"/>
          <p:cNvSpPr/>
          <p:nvPr/>
        </p:nvSpPr>
        <p:spPr>
          <a:xfrm>
            <a:off x="6858000" y="5413248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55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30</a:t>
            </a:r>
          </a:p>
        </p:txBody>
      </p:sp>
      <p:sp>
        <p:nvSpPr>
          <p:cNvPr id="111" name="IG-15"/>
          <p:cNvSpPr/>
          <p:nvPr/>
        </p:nvSpPr>
        <p:spPr>
          <a:xfrm>
            <a:off x="6955536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IG · 19h</a:t>
            </a:r>
          </a:p>
        </p:txBody>
      </p:sp>
      <p:sp>
        <p:nvSpPr>
          <p:cNvPr id="112" name="CK-05"/>
          <p:cNvSpPr/>
          <p:nvPr/>
        </p:nvSpPr>
        <p:spPr>
          <a:xfrm>
            <a:off x="7644384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Métricas</a:t>
            </a:r>
          </a:p>
        </p:txBody>
      </p:sp>
      <p:sp>
        <p:nvSpPr>
          <p:cNvPr id="113" name="Dia 2026-10-31"/>
          <p:cNvSpPr/>
          <p:nvPr/>
        </p:nvSpPr>
        <p:spPr>
          <a:xfrm>
            <a:off x="8382000" y="5413248"/>
            <a:ext cx="152400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79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31</a:t>
            </a:r>
          </a:p>
        </p:txBody>
      </p:sp>
      <p:sp>
        <p:nvSpPr>
          <p:cNvPr id="115" name="C09"/>
          <p:cNvSpPr/>
          <p:nvPr/>
        </p:nvSpPr>
        <p:spPr>
          <a:xfrm>
            <a:off x="8479536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ora"/>
              </a:rPr>
              <a:t>WA · C09</a:t>
            </a:r>
          </a:p>
        </p:txBody>
      </p:sp>
      <p:sp>
        <p:nvSpPr>
          <p:cNvPr id="116" name="CK-06"/>
          <p:cNvSpPr/>
          <p:nvPr/>
        </p:nvSpPr>
        <p:spPr>
          <a:xfrm>
            <a:off x="9168384" y="5742432"/>
            <a:ext cx="640080" cy="195072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3376B"/>
                </a:solidFill>
                <a:latin typeface="Sora"/>
              </a:rPr>
              <a:t>Métricas</a:t>
            </a:r>
          </a:p>
        </p:txBody>
      </p:sp>
      <p:sp>
        <p:nvSpPr>
          <p:cNvPr id="117" name="Dia 2026-11-01"/>
          <p:cNvSpPr/>
          <p:nvPr/>
        </p:nvSpPr>
        <p:spPr>
          <a:xfrm>
            <a:off x="9906000" y="5413248"/>
            <a:ext cx="1524000" cy="755904"/>
          </a:xfrm>
          <a:prstGeom prst="rect">
            <a:avLst/>
          </a:prstGeom>
          <a:solidFill>
            <a:srgbClr val="F4F6F9"/>
          </a:solidFill>
          <a:ln w="6350">
            <a:solidFill>
              <a:srgbClr val="D3D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003536" y="5474208"/>
            <a:ext cx="60960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BAC5"/>
                </a:solidFill>
                <a:latin typeface="Sora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Semana de 02 a 04/10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.agenda · semana 1</a:t>
            </a:r>
          </a:p>
        </p:txBody>
      </p:sp>
      <p:sp>
        <p:nvSpPr>
          <p:cNvPr id="4" name="Resumo da semana"/>
          <p:cNvSpPr txBox="1"/>
          <p:nvPr/>
        </p:nvSpPr>
        <p:spPr>
          <a:xfrm>
            <a:off x="5334000" y="1243584"/>
            <a:ext cx="609600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165BB"/>
                </a:solidFill>
                <a:latin typeface="Sora"/>
              </a:rPr>
              <a:t>2 publicações · 1 checkpoint · 2 prazos</a:t>
            </a:r>
          </a:p>
        </p:txBody>
      </p:sp>
      <p:sp>
        <p:nvSpPr>
          <p:cNvPr id="5" name="Agenda da semana"/>
          <p:cNvSpPr/>
          <p:nvPr/>
        </p:nvSpPr>
        <p:spPr>
          <a:xfrm>
            <a:off x="762000" y="1706880"/>
            <a:ext cx="10668000" cy="3263889"/>
          </a:xfrm>
          <a:prstGeom prst="round2DiagRect">
            <a:avLst>
              <a:gd name="adj1" fmla="val 5976"/>
              <a:gd name="adj2" fmla="val 112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02/10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2640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 · 19:00</a:t>
            </a:r>
          </a:p>
        </p:txBody>
      </p:sp>
      <p:sp>
        <p:nvSpPr>
          <p:cNvPr id="8" name="Tag Instagram"/>
          <p:cNvSpPr/>
          <p:nvPr/>
        </p:nvSpPr>
        <p:spPr>
          <a:xfrm>
            <a:off x="1908048" y="1834896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9712" y="1834896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84" y="1828800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Para quem toma decisões na saúde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Conhecer a comunidade</a:t>
            </a:r>
          </a:p>
        </p:txBody>
      </p:sp>
      <p:sp>
        <p:nvSpPr>
          <p:cNvPr id="11" name="Tag Criar"/>
          <p:cNvSpPr/>
          <p:nvPr/>
        </p:nvSpPr>
        <p:spPr>
          <a:xfrm>
            <a:off x="10652696" y="1834896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2" name="Divisor"/>
          <p:cNvSpPr/>
          <p:nvPr/>
        </p:nvSpPr>
        <p:spPr>
          <a:xfrm>
            <a:off x="981456" y="2324105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64313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</a:t>
            </a:r>
          </a:p>
        </p:txBody>
      </p:sp>
      <p:sp>
        <p:nvSpPr>
          <p:cNvPr id="14" name="Tag Checkpoint"/>
          <p:cNvSpPr/>
          <p:nvPr/>
        </p:nvSpPr>
        <p:spPr>
          <a:xfrm>
            <a:off x="1908048" y="2452121"/>
            <a:ext cx="942150" cy="245745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9712" y="2452121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CK-01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4384" y="2446025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Conferência da linha de base das comunidades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Canal: Comunidades</a:t>
            </a:r>
          </a:p>
        </p:txBody>
      </p:sp>
      <p:sp>
        <p:nvSpPr>
          <p:cNvPr id="17" name="Tag A fazer"/>
          <p:cNvSpPr/>
          <p:nvPr/>
        </p:nvSpPr>
        <p:spPr>
          <a:xfrm>
            <a:off x="10551544" y="2452121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18" name="Divisor"/>
          <p:cNvSpPr/>
          <p:nvPr/>
        </p:nvSpPr>
        <p:spPr>
          <a:xfrm>
            <a:off x="981456" y="2941329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81537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</a:t>
            </a:r>
          </a:p>
        </p:txBody>
      </p:sp>
      <p:sp>
        <p:nvSpPr>
          <p:cNvPr id="20" name="Tag Prazo"/>
          <p:cNvSpPr/>
          <p:nvPr/>
        </p:nvSpPr>
        <p:spPr>
          <a:xfrm>
            <a:off x="1908048" y="3069345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9712" y="3069345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DC-09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4384" y="3063249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Testar o link da bio (a linha de base de membros já está definida)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Responsável: FOCO + HLS</a:t>
            </a:r>
          </a:p>
        </p:txBody>
      </p:sp>
      <p:sp>
        <p:nvSpPr>
          <p:cNvPr id="23" name="Tag Pendente"/>
          <p:cNvSpPr/>
          <p:nvPr/>
        </p:nvSpPr>
        <p:spPr>
          <a:xfrm>
            <a:off x="10393515" y="3069345"/>
            <a:ext cx="817029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Pendente</a:t>
            </a:r>
          </a:p>
        </p:txBody>
      </p:sp>
      <p:sp>
        <p:nvSpPr>
          <p:cNvPr id="24" name="Divisor"/>
          <p:cNvSpPr/>
          <p:nvPr/>
        </p:nvSpPr>
        <p:spPr>
          <a:xfrm>
            <a:off x="981456" y="3558554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98762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</a:t>
            </a:r>
          </a:p>
        </p:txBody>
      </p:sp>
      <p:sp>
        <p:nvSpPr>
          <p:cNvPr id="26" name="Tag Prazo"/>
          <p:cNvSpPr/>
          <p:nvPr/>
        </p:nvSpPr>
        <p:spPr>
          <a:xfrm>
            <a:off x="1908048" y="3686570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9712" y="3686570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DC-11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4384" y="3680474"/>
            <a:ext cx="5486400" cy="6243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Analista de métricas e responsável por respostas e atendimento: Hamilton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Responsável: Hamilton (FOCO)</a:t>
            </a:r>
          </a:p>
        </p:txBody>
      </p:sp>
      <p:sp>
        <p:nvSpPr>
          <p:cNvPr id="29" name="Tag Confirmado"/>
          <p:cNvSpPr/>
          <p:nvPr/>
        </p:nvSpPr>
        <p:spPr>
          <a:xfrm>
            <a:off x="10260189" y="3686570"/>
            <a:ext cx="950355" cy="245745"/>
          </a:xfrm>
          <a:prstGeom prst="roundRect">
            <a:avLst>
              <a:gd name="adj" fmla="val 50000"/>
            </a:avLst>
          </a:prstGeom>
          <a:solidFill>
            <a:srgbClr val="DDF3E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7F52"/>
                </a:solidFill>
                <a:latin typeface="Sora"/>
              </a:rPr>
              <a:t>Confirmado</a:t>
            </a:r>
          </a:p>
        </p:txBody>
      </p:sp>
      <p:sp>
        <p:nvSpPr>
          <p:cNvPr id="30" name="Divisor"/>
          <p:cNvSpPr/>
          <p:nvPr/>
        </p:nvSpPr>
        <p:spPr>
          <a:xfrm>
            <a:off x="981456" y="4353545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75465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04/10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1930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dom · 10:00</a:t>
            </a:r>
          </a:p>
        </p:txBody>
      </p:sp>
      <p:sp>
        <p:nvSpPr>
          <p:cNvPr id="33" name="Tag Instagram"/>
          <p:cNvSpPr/>
          <p:nvPr/>
        </p:nvSpPr>
        <p:spPr>
          <a:xfrm>
            <a:off x="1908048" y="4481561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29712" y="4481561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4384" y="4475465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Isolamento profissional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Carrossel · CTA: Compartilhar com um par</a:t>
            </a:r>
          </a:p>
        </p:txBody>
      </p:sp>
      <p:sp>
        <p:nvSpPr>
          <p:cNvPr id="36" name="Tag Pronto"/>
          <p:cNvSpPr/>
          <p:nvPr/>
        </p:nvSpPr>
        <p:spPr>
          <a:xfrm>
            <a:off x="10548407" y="4481561"/>
            <a:ext cx="662137" cy="24574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BAC5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Pronto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Semana de 05 a 11/10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.agenda · semana 2</a:t>
            </a:r>
          </a:p>
        </p:txBody>
      </p:sp>
      <p:sp>
        <p:nvSpPr>
          <p:cNvPr id="4" name="Resumo da semana"/>
          <p:cNvSpPr txBox="1"/>
          <p:nvPr/>
        </p:nvSpPr>
        <p:spPr>
          <a:xfrm>
            <a:off x="5334000" y="1243584"/>
            <a:ext cx="609600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165BB"/>
                </a:solidFill>
                <a:latin typeface="Sora"/>
              </a:rPr>
              <a:t>3 publicações · 3 disparos · 1 checkpoint</a:t>
            </a:r>
          </a:p>
        </p:txBody>
      </p:sp>
      <p:sp>
        <p:nvSpPr>
          <p:cNvPr id="5" name="Agenda da semana"/>
          <p:cNvSpPr/>
          <p:nvPr/>
        </p:nvSpPr>
        <p:spPr>
          <a:xfrm>
            <a:off x="762000" y="1706880"/>
            <a:ext cx="10668000" cy="4320572"/>
          </a:xfrm>
          <a:prstGeom prst="round2DiagRect">
            <a:avLst>
              <a:gd name="adj1" fmla="val 4514"/>
              <a:gd name="adj2" fmla="val 84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05/10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2640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seg · 12:30</a:t>
            </a:r>
          </a:p>
        </p:txBody>
      </p:sp>
      <p:sp>
        <p:nvSpPr>
          <p:cNvPr id="8" name="Tag WhatsApp"/>
          <p:cNvSpPr/>
          <p:nvPr/>
        </p:nvSpPr>
        <p:spPr>
          <a:xfrm>
            <a:off x="1908048" y="1834896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9712" y="1834896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84" y="1828800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Qual parte da rotina da clínica merece atenção primeiro?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Enquete · Reconhecer prioridades por comunidade</a:t>
            </a:r>
          </a:p>
        </p:txBody>
      </p:sp>
      <p:sp>
        <p:nvSpPr>
          <p:cNvPr id="11" name="Tag A fazer"/>
          <p:cNvSpPr/>
          <p:nvPr/>
        </p:nvSpPr>
        <p:spPr>
          <a:xfrm>
            <a:off x="10551544" y="1834896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12" name="Divisor"/>
          <p:cNvSpPr/>
          <p:nvPr/>
        </p:nvSpPr>
        <p:spPr>
          <a:xfrm>
            <a:off x="981456" y="2324105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46025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06/10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8986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ter · 12:30</a:t>
            </a:r>
          </a:p>
        </p:txBody>
      </p:sp>
      <p:sp>
        <p:nvSpPr>
          <p:cNvPr id="15" name="Tag Instagram"/>
          <p:cNvSpPr/>
          <p:nvPr/>
        </p:nvSpPr>
        <p:spPr>
          <a:xfrm>
            <a:off x="1908048" y="2452121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9712" y="2452121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4384" y="2446025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A pergunta antes da resposta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Salvar</a:t>
            </a:r>
          </a:p>
        </p:txBody>
      </p:sp>
      <p:sp>
        <p:nvSpPr>
          <p:cNvPr id="18" name="Tag Criar"/>
          <p:cNvSpPr/>
          <p:nvPr/>
        </p:nvSpPr>
        <p:spPr>
          <a:xfrm>
            <a:off x="10652696" y="2452121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9" name="Divisor"/>
          <p:cNvSpPr/>
          <p:nvPr/>
        </p:nvSpPr>
        <p:spPr>
          <a:xfrm>
            <a:off x="981456" y="2941329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63249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07/10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07089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 · 12:30</a:t>
            </a:r>
          </a:p>
        </p:txBody>
      </p:sp>
      <p:sp>
        <p:nvSpPr>
          <p:cNvPr id="22" name="Tag WhatsApp"/>
          <p:cNvSpPr/>
          <p:nvPr/>
        </p:nvSpPr>
        <p:spPr>
          <a:xfrm>
            <a:off x="1908048" y="3069345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9712" y="3069345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4384" y="3063249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O paciente ainda precisa perguntar onde, quando ou como chegar?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Reação · Estimular revisão concreta do contato prévio</a:t>
            </a:r>
          </a:p>
        </p:txBody>
      </p:sp>
      <p:sp>
        <p:nvSpPr>
          <p:cNvPr id="25" name="Tag A fazer"/>
          <p:cNvSpPr/>
          <p:nvPr/>
        </p:nvSpPr>
        <p:spPr>
          <a:xfrm>
            <a:off x="10551544" y="3069345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26" name="Divisor"/>
          <p:cNvSpPr/>
          <p:nvPr/>
        </p:nvSpPr>
        <p:spPr>
          <a:xfrm>
            <a:off x="981456" y="3558554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80474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08/10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24314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qui · 19:00</a:t>
            </a:r>
          </a:p>
        </p:txBody>
      </p:sp>
      <p:sp>
        <p:nvSpPr>
          <p:cNvPr id="29" name="Tag Instagram"/>
          <p:cNvSpPr/>
          <p:nvPr/>
        </p:nvSpPr>
        <p:spPr>
          <a:xfrm>
            <a:off x="1908048" y="3686570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9712" y="3686570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4384" y="3680474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A consulta pode ser excelente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Carrossel · CTA: Revisar um contato</a:t>
            </a:r>
          </a:p>
        </p:txBody>
      </p:sp>
      <p:sp>
        <p:nvSpPr>
          <p:cNvPr id="32" name="Tag Pronto"/>
          <p:cNvSpPr/>
          <p:nvPr/>
        </p:nvSpPr>
        <p:spPr>
          <a:xfrm>
            <a:off x="10548407" y="3686570"/>
            <a:ext cx="662137" cy="24574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BAC5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Pronto</a:t>
            </a:r>
          </a:p>
        </p:txBody>
      </p:sp>
      <p:sp>
        <p:nvSpPr>
          <p:cNvPr id="33" name="Divisor"/>
          <p:cNvSpPr/>
          <p:nvPr/>
        </p:nvSpPr>
        <p:spPr>
          <a:xfrm>
            <a:off x="981456" y="4175778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297698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10/10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541538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 · 10:00</a:t>
            </a:r>
          </a:p>
        </p:txBody>
      </p:sp>
      <p:sp>
        <p:nvSpPr>
          <p:cNvPr id="36" name="Tag Instagram"/>
          <p:cNvSpPr/>
          <p:nvPr/>
        </p:nvSpPr>
        <p:spPr>
          <a:xfrm>
            <a:off x="1908048" y="4303794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29712" y="4303794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4384" y="4297698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Conferência antes da consulta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Salvar</a:t>
            </a:r>
          </a:p>
        </p:txBody>
      </p:sp>
      <p:sp>
        <p:nvSpPr>
          <p:cNvPr id="39" name="Tag Criar"/>
          <p:cNvSpPr/>
          <p:nvPr/>
        </p:nvSpPr>
        <p:spPr>
          <a:xfrm>
            <a:off x="10652696" y="4303794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40" name="Divisor"/>
          <p:cNvSpPr/>
          <p:nvPr/>
        </p:nvSpPr>
        <p:spPr>
          <a:xfrm>
            <a:off x="981456" y="4793003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933211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 · 10:30</a:t>
            </a:r>
          </a:p>
        </p:txBody>
      </p:sp>
      <p:sp>
        <p:nvSpPr>
          <p:cNvPr id="42" name="Tag WhatsApp"/>
          <p:cNvSpPr/>
          <p:nvPr/>
        </p:nvSpPr>
        <p:spPr>
          <a:xfrm>
            <a:off x="1908048" y="4921019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29712" y="4921019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34384" y="4914923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Uma decisão administrativa chega ao médico várias vezes na semana.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Enquete · Identificar o ponto a desenvolver em C05</a:t>
            </a:r>
          </a:p>
        </p:txBody>
      </p:sp>
      <p:sp>
        <p:nvSpPr>
          <p:cNvPr id="45" name="Tag A fazer"/>
          <p:cNvSpPr/>
          <p:nvPr/>
        </p:nvSpPr>
        <p:spPr>
          <a:xfrm>
            <a:off x="10551544" y="4921019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46" name="Divisor"/>
          <p:cNvSpPr/>
          <p:nvPr/>
        </p:nvSpPr>
        <p:spPr>
          <a:xfrm>
            <a:off x="981456" y="5410227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55043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</a:t>
            </a:r>
          </a:p>
        </p:txBody>
      </p:sp>
      <p:sp>
        <p:nvSpPr>
          <p:cNvPr id="48" name="Tag Checkpoint"/>
          <p:cNvSpPr/>
          <p:nvPr/>
        </p:nvSpPr>
        <p:spPr>
          <a:xfrm>
            <a:off x="1908048" y="5538243"/>
            <a:ext cx="942150" cy="245745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Checkpoint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9712" y="5538243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CK-02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4384" y="5532147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Primeiras três mensagens e bio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Canal: Comunidades</a:t>
            </a:r>
          </a:p>
        </p:txBody>
      </p:sp>
      <p:sp>
        <p:nvSpPr>
          <p:cNvPr id="51" name="Tag A fazer"/>
          <p:cNvSpPr/>
          <p:nvPr/>
        </p:nvSpPr>
        <p:spPr>
          <a:xfrm>
            <a:off x="10551544" y="5538243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Semana de 12 a 18/10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.agenda · semana 3</a:t>
            </a:r>
          </a:p>
        </p:txBody>
      </p:sp>
      <p:sp>
        <p:nvSpPr>
          <p:cNvPr id="4" name="Resumo da semana"/>
          <p:cNvSpPr txBox="1"/>
          <p:nvPr/>
        </p:nvSpPr>
        <p:spPr>
          <a:xfrm>
            <a:off x="5334000" y="1243584"/>
            <a:ext cx="609600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165BB"/>
                </a:solidFill>
                <a:latin typeface="Sora"/>
              </a:rPr>
              <a:t>4 publicações · 2 disparos · 1 checkpoint</a:t>
            </a:r>
          </a:p>
        </p:txBody>
      </p:sp>
      <p:sp>
        <p:nvSpPr>
          <p:cNvPr id="5" name="Agenda da semana"/>
          <p:cNvSpPr/>
          <p:nvPr/>
        </p:nvSpPr>
        <p:spPr>
          <a:xfrm>
            <a:off x="762000" y="1706880"/>
            <a:ext cx="10668000" cy="4320572"/>
          </a:xfrm>
          <a:prstGeom prst="round2DiagRect">
            <a:avLst>
              <a:gd name="adj1" fmla="val 4514"/>
              <a:gd name="adj2" fmla="val 84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12/10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2640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seg · 19:00</a:t>
            </a:r>
          </a:p>
        </p:txBody>
      </p:sp>
      <p:sp>
        <p:nvSpPr>
          <p:cNvPr id="8" name="Tag Instagram"/>
          <p:cNvSpPr/>
          <p:nvPr/>
        </p:nvSpPr>
        <p:spPr>
          <a:xfrm>
            <a:off x="1908048" y="1834896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9712" y="1834896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84" y="1828800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O valor da troca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Conhecer a HLS</a:t>
            </a:r>
          </a:p>
        </p:txBody>
      </p:sp>
      <p:sp>
        <p:nvSpPr>
          <p:cNvPr id="11" name="Tag Criar"/>
          <p:cNvSpPr/>
          <p:nvPr/>
        </p:nvSpPr>
        <p:spPr>
          <a:xfrm>
            <a:off x="10652696" y="1834896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2" name="Divisor"/>
          <p:cNvSpPr/>
          <p:nvPr/>
        </p:nvSpPr>
        <p:spPr>
          <a:xfrm>
            <a:off x="981456" y="2324105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46025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14/10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8986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 · 12:30</a:t>
            </a:r>
          </a:p>
        </p:txBody>
      </p:sp>
      <p:sp>
        <p:nvSpPr>
          <p:cNvPr id="15" name="Tag Instagram"/>
          <p:cNvSpPr/>
          <p:nvPr/>
        </p:nvSpPr>
        <p:spPr>
          <a:xfrm>
            <a:off x="1908048" y="2452121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9712" y="2452121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4384" y="2446025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Uma comunidade ganha força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Carrossel · CTA: Conhecer a HLS</a:t>
            </a:r>
          </a:p>
        </p:txBody>
      </p:sp>
      <p:sp>
        <p:nvSpPr>
          <p:cNvPr id="18" name="Tag Pronto"/>
          <p:cNvSpPr/>
          <p:nvPr/>
        </p:nvSpPr>
        <p:spPr>
          <a:xfrm>
            <a:off x="10548407" y="2452121"/>
            <a:ext cx="662137" cy="24574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BAC5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Pronto</a:t>
            </a:r>
          </a:p>
        </p:txBody>
      </p:sp>
      <p:sp>
        <p:nvSpPr>
          <p:cNvPr id="19" name="Divisor"/>
          <p:cNvSpPr/>
          <p:nvPr/>
        </p:nvSpPr>
        <p:spPr>
          <a:xfrm>
            <a:off x="981456" y="2941329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81537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 · 12:30</a:t>
            </a:r>
          </a:p>
        </p:txBody>
      </p:sp>
      <p:sp>
        <p:nvSpPr>
          <p:cNvPr id="21" name="Tag WhatsApp"/>
          <p:cNvSpPr/>
          <p:nvPr/>
        </p:nvSpPr>
        <p:spPr>
          <a:xfrm>
            <a:off x="1908048" y="3069345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9712" y="3069345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4384" y="3063249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“Minha equipe está sobrecarregada” ainda deixa muita coisa em aberto.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Prática · Explicar o valor da troca com uma aplicação autônoma</a:t>
            </a:r>
          </a:p>
        </p:txBody>
      </p:sp>
      <p:sp>
        <p:nvSpPr>
          <p:cNvPr id="24" name="Tag A fazer"/>
          <p:cNvSpPr/>
          <p:nvPr/>
        </p:nvSpPr>
        <p:spPr>
          <a:xfrm>
            <a:off x="10551544" y="3069345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25" name="Divisor"/>
          <p:cNvSpPr/>
          <p:nvPr/>
        </p:nvSpPr>
        <p:spPr>
          <a:xfrm>
            <a:off x="981456" y="3558554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80474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16/10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24314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 · 19:00</a:t>
            </a:r>
          </a:p>
        </p:txBody>
      </p:sp>
      <p:sp>
        <p:nvSpPr>
          <p:cNvPr id="28" name="Tag Instagram"/>
          <p:cNvSpPr/>
          <p:nvPr/>
        </p:nvSpPr>
        <p:spPr>
          <a:xfrm>
            <a:off x="1908048" y="3686570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9712" y="3686570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34384" y="3680474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Decisão concentrada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Observar a rotina</a:t>
            </a:r>
          </a:p>
        </p:txBody>
      </p:sp>
      <p:sp>
        <p:nvSpPr>
          <p:cNvPr id="31" name="Tag Criar"/>
          <p:cNvSpPr/>
          <p:nvPr/>
        </p:nvSpPr>
        <p:spPr>
          <a:xfrm>
            <a:off x="10652696" y="3686570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32" name="Divisor"/>
          <p:cNvSpPr/>
          <p:nvPr/>
        </p:nvSpPr>
        <p:spPr>
          <a:xfrm>
            <a:off x="981456" y="4175778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315986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</a:t>
            </a:r>
          </a:p>
        </p:txBody>
      </p:sp>
      <p:sp>
        <p:nvSpPr>
          <p:cNvPr id="34" name="Tag Checkpoint"/>
          <p:cNvSpPr/>
          <p:nvPr/>
        </p:nvSpPr>
        <p:spPr>
          <a:xfrm>
            <a:off x="1908048" y="4303794"/>
            <a:ext cx="942150" cy="245745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Checkpoint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9712" y="4303794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CK-03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34384" y="4297698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Checkpoint do feed e das entradas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Canal: Instagram e comunidades</a:t>
            </a:r>
          </a:p>
        </p:txBody>
      </p:sp>
      <p:sp>
        <p:nvSpPr>
          <p:cNvPr id="37" name="Tag A fazer"/>
          <p:cNvSpPr/>
          <p:nvPr/>
        </p:nvSpPr>
        <p:spPr>
          <a:xfrm>
            <a:off x="10551544" y="4303794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38" name="Divisor"/>
          <p:cNvSpPr/>
          <p:nvPr/>
        </p:nvSpPr>
        <p:spPr>
          <a:xfrm>
            <a:off x="981456" y="4793003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914923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17/10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58763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 · 10:30</a:t>
            </a:r>
          </a:p>
        </p:txBody>
      </p:sp>
      <p:sp>
        <p:nvSpPr>
          <p:cNvPr id="41" name="Tag WhatsApp"/>
          <p:cNvSpPr/>
          <p:nvPr/>
        </p:nvSpPr>
        <p:spPr>
          <a:xfrm>
            <a:off x="1908048" y="4921019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9712" y="4921019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4384" y="4914923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Pegue uma decisão administrativa que sempre volta ao médico.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Prática · Converter diagnóstico de C03 em uma ação</a:t>
            </a:r>
          </a:p>
        </p:txBody>
      </p:sp>
      <p:sp>
        <p:nvSpPr>
          <p:cNvPr id="44" name="Tag A fazer"/>
          <p:cNvSpPr/>
          <p:nvPr/>
        </p:nvSpPr>
        <p:spPr>
          <a:xfrm>
            <a:off x="10551544" y="4921019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45" name="Divisor"/>
          <p:cNvSpPr/>
          <p:nvPr/>
        </p:nvSpPr>
        <p:spPr>
          <a:xfrm>
            <a:off x="981456" y="5410227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532147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18/10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775987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dom · 10:00</a:t>
            </a:r>
          </a:p>
        </p:txBody>
      </p:sp>
      <p:sp>
        <p:nvSpPr>
          <p:cNvPr id="48" name="Tag Instagram"/>
          <p:cNvSpPr/>
          <p:nvPr/>
        </p:nvSpPr>
        <p:spPr>
          <a:xfrm>
            <a:off x="1908048" y="5538243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9712" y="5538243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4384" y="5532147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Reunião com próximo passo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Salvar</a:t>
            </a:r>
          </a:p>
        </p:txBody>
      </p:sp>
      <p:sp>
        <p:nvSpPr>
          <p:cNvPr id="51" name="Tag Criar"/>
          <p:cNvSpPr/>
          <p:nvPr/>
        </p:nvSpPr>
        <p:spPr>
          <a:xfrm>
            <a:off x="10652696" y="5538243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Semana de 19 a 25/10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.agenda · semana 4</a:t>
            </a:r>
          </a:p>
        </p:txBody>
      </p:sp>
      <p:sp>
        <p:nvSpPr>
          <p:cNvPr id="4" name="Resumo da semana"/>
          <p:cNvSpPr txBox="1"/>
          <p:nvPr/>
        </p:nvSpPr>
        <p:spPr>
          <a:xfrm>
            <a:off x="5334000" y="1243584"/>
            <a:ext cx="609600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165BB"/>
                </a:solidFill>
                <a:latin typeface="Sora"/>
              </a:rPr>
              <a:t>3 publicações · 2 disparos · 1 checkpoint · 1 prazo</a:t>
            </a:r>
          </a:p>
        </p:txBody>
      </p:sp>
      <p:sp>
        <p:nvSpPr>
          <p:cNvPr id="5" name="Agenda da semana"/>
          <p:cNvSpPr/>
          <p:nvPr/>
        </p:nvSpPr>
        <p:spPr>
          <a:xfrm>
            <a:off x="762000" y="1706880"/>
            <a:ext cx="10668000" cy="4320572"/>
          </a:xfrm>
          <a:prstGeom prst="round2DiagRect">
            <a:avLst>
              <a:gd name="adj1" fmla="val 4514"/>
              <a:gd name="adj2" fmla="val 84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2640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ter · 12:30</a:t>
            </a:r>
          </a:p>
        </p:txBody>
      </p:sp>
      <p:sp>
        <p:nvSpPr>
          <p:cNvPr id="8" name="Tag Instagram"/>
          <p:cNvSpPr/>
          <p:nvPr/>
        </p:nvSpPr>
        <p:spPr>
          <a:xfrm>
            <a:off x="1908048" y="1834896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9712" y="1834896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84" y="1828800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Novidade sob análise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Compartilhar</a:t>
            </a:r>
          </a:p>
        </p:txBody>
      </p:sp>
      <p:sp>
        <p:nvSpPr>
          <p:cNvPr id="11" name="Tag Criar"/>
          <p:cNvSpPr/>
          <p:nvPr/>
        </p:nvSpPr>
        <p:spPr>
          <a:xfrm>
            <a:off x="10652696" y="1834896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2" name="Divisor"/>
          <p:cNvSpPr/>
          <p:nvPr/>
        </p:nvSpPr>
        <p:spPr>
          <a:xfrm>
            <a:off x="981456" y="2324105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46025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21/10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8986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 · 12:30</a:t>
            </a:r>
          </a:p>
        </p:txBody>
      </p:sp>
      <p:sp>
        <p:nvSpPr>
          <p:cNvPr id="15" name="Tag WhatsApp"/>
          <p:cNvSpPr/>
          <p:nvPr/>
        </p:nvSpPr>
        <p:spPr>
          <a:xfrm>
            <a:off x="1908048" y="2452121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9712" y="2452121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4384" y="2446025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O que a clínica precisará para colocar uma nova tecnologia em uso?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Reação · Ampliar critérios de avaliação e identificar interesse em suporte</a:t>
            </a:r>
          </a:p>
        </p:txBody>
      </p:sp>
      <p:sp>
        <p:nvSpPr>
          <p:cNvPr id="18" name="Tag A fazer"/>
          <p:cNvSpPr/>
          <p:nvPr/>
        </p:nvSpPr>
        <p:spPr>
          <a:xfrm>
            <a:off x="10551544" y="2452121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19" name="Divisor"/>
          <p:cNvSpPr/>
          <p:nvPr/>
        </p:nvSpPr>
        <p:spPr>
          <a:xfrm>
            <a:off x="981456" y="2941329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81537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</a:t>
            </a:r>
          </a:p>
        </p:txBody>
      </p:sp>
      <p:sp>
        <p:nvSpPr>
          <p:cNvPr id="21" name="Tag Prazo"/>
          <p:cNvSpPr/>
          <p:nvPr/>
        </p:nvSpPr>
        <p:spPr>
          <a:xfrm>
            <a:off x="1908048" y="3069345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9712" y="3069345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DC-14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4384" y="3063249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Arte do carrossel de 22/10 (7 lâminas, 1080 x 1350 px)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Responsável: Designer do Instagram</a:t>
            </a:r>
          </a:p>
        </p:txBody>
      </p:sp>
      <p:sp>
        <p:nvSpPr>
          <p:cNvPr id="24" name="Tag Pendente"/>
          <p:cNvSpPr/>
          <p:nvPr/>
        </p:nvSpPr>
        <p:spPr>
          <a:xfrm>
            <a:off x="10393515" y="3069345"/>
            <a:ext cx="817029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Pendente</a:t>
            </a:r>
          </a:p>
        </p:txBody>
      </p:sp>
      <p:sp>
        <p:nvSpPr>
          <p:cNvPr id="25" name="Divisor"/>
          <p:cNvSpPr/>
          <p:nvPr/>
        </p:nvSpPr>
        <p:spPr>
          <a:xfrm>
            <a:off x="981456" y="3558554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80474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22/10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24314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qui · 19:00</a:t>
            </a:r>
          </a:p>
        </p:txBody>
      </p:sp>
      <p:sp>
        <p:nvSpPr>
          <p:cNvPr id="28" name="Tag Instagram"/>
          <p:cNvSpPr/>
          <p:nvPr/>
        </p:nvSpPr>
        <p:spPr>
          <a:xfrm>
            <a:off x="1908048" y="3686570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9712" y="3686570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34384" y="3680474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Como avaliar uma tecnologia antes de levar à clínica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Carrossel · CTA: Salvar</a:t>
            </a:r>
          </a:p>
        </p:txBody>
      </p:sp>
      <p:sp>
        <p:nvSpPr>
          <p:cNvPr id="31" name="Tag Criar, 7 lâminas"/>
          <p:cNvSpPr/>
          <p:nvPr/>
        </p:nvSpPr>
        <p:spPr>
          <a:xfrm>
            <a:off x="10083910" y="3686570"/>
            <a:ext cx="1126634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Criar, 7 lâminas</a:t>
            </a:r>
          </a:p>
        </p:txBody>
      </p:sp>
      <p:sp>
        <p:nvSpPr>
          <p:cNvPr id="32" name="Divisor"/>
          <p:cNvSpPr/>
          <p:nvPr/>
        </p:nvSpPr>
        <p:spPr>
          <a:xfrm>
            <a:off x="981456" y="4175778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297698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24/10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541538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 · 10:00</a:t>
            </a:r>
          </a:p>
        </p:txBody>
      </p:sp>
      <p:sp>
        <p:nvSpPr>
          <p:cNvPr id="35" name="Tag Instagram"/>
          <p:cNvSpPr/>
          <p:nvPr/>
        </p:nvSpPr>
        <p:spPr>
          <a:xfrm>
            <a:off x="1908048" y="4303794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9712" y="4303794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4384" y="4297698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Conversas entre especialidades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Estático · CTA: Comentar um tema</a:t>
            </a:r>
          </a:p>
        </p:txBody>
      </p:sp>
      <p:sp>
        <p:nvSpPr>
          <p:cNvPr id="38" name="Tag Criar"/>
          <p:cNvSpPr/>
          <p:nvPr/>
        </p:nvSpPr>
        <p:spPr>
          <a:xfrm>
            <a:off x="10652696" y="4303794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39" name="Divisor"/>
          <p:cNvSpPr/>
          <p:nvPr/>
        </p:nvSpPr>
        <p:spPr>
          <a:xfrm>
            <a:off x="981456" y="4793003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933211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 · 10:30</a:t>
            </a:r>
          </a:p>
        </p:txBody>
      </p:sp>
      <p:sp>
        <p:nvSpPr>
          <p:cNvPr id="41" name="Tag WhatsApp"/>
          <p:cNvSpPr/>
          <p:nvPr/>
        </p:nvSpPr>
        <p:spPr>
          <a:xfrm>
            <a:off x="1908048" y="4921019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9712" y="4921019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4384" y="4914923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Treinamento, suporte e custos continuam depois da contratação.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Enquete · Escolher uma prioridade editorial de novembro</a:t>
            </a:r>
          </a:p>
        </p:txBody>
      </p:sp>
      <p:sp>
        <p:nvSpPr>
          <p:cNvPr id="44" name="Tag Bloqueado"/>
          <p:cNvSpPr/>
          <p:nvPr/>
        </p:nvSpPr>
        <p:spPr>
          <a:xfrm>
            <a:off x="10321509" y="4921019"/>
            <a:ext cx="889035" cy="245745"/>
          </a:xfrm>
          <a:prstGeom prst="roundRect">
            <a:avLst>
              <a:gd name="adj" fmla="val 50000"/>
            </a:avLst>
          </a:prstGeom>
          <a:solidFill>
            <a:srgbClr val="FBF0C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5A00"/>
                </a:solidFill>
                <a:latin typeface="Sora"/>
              </a:rPr>
              <a:t>Bloqueado</a:t>
            </a:r>
          </a:p>
        </p:txBody>
      </p:sp>
      <p:sp>
        <p:nvSpPr>
          <p:cNvPr id="45" name="Divisor"/>
          <p:cNvSpPr/>
          <p:nvPr/>
        </p:nvSpPr>
        <p:spPr>
          <a:xfrm>
            <a:off x="981456" y="5410227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55043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</a:t>
            </a:r>
          </a:p>
        </p:txBody>
      </p:sp>
      <p:sp>
        <p:nvSpPr>
          <p:cNvPr id="47" name="Tag Checkpoint"/>
          <p:cNvSpPr/>
          <p:nvPr/>
        </p:nvSpPr>
        <p:spPr>
          <a:xfrm>
            <a:off x="1908048" y="5538243"/>
            <a:ext cx="942150" cy="245745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Checkpoint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29712" y="5538243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CK-04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4384" y="5532147"/>
            <a:ext cx="5486400" cy="446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3376B"/>
                </a:solidFill>
                <a:latin typeface="Sora"/>
              </a:rPr>
              <a:t>Enquete de escuta (C07)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D535C"/>
                </a:solidFill>
                <a:latin typeface="Sora"/>
              </a:rPr>
              <a:t>Canal: Comunidades</a:t>
            </a:r>
          </a:p>
        </p:txBody>
      </p:sp>
      <p:sp>
        <p:nvSpPr>
          <p:cNvPr id="50" name="Tag A fazer"/>
          <p:cNvSpPr/>
          <p:nvPr/>
        </p:nvSpPr>
        <p:spPr>
          <a:xfrm>
            <a:off x="10551544" y="5538243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Semana de 26 a 31/10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.agenda · semana 5</a:t>
            </a:r>
          </a:p>
        </p:txBody>
      </p:sp>
      <p:sp>
        <p:nvSpPr>
          <p:cNvPr id="4" name="Resumo da semana"/>
          <p:cNvSpPr txBox="1"/>
          <p:nvPr/>
        </p:nvSpPr>
        <p:spPr>
          <a:xfrm>
            <a:off x="5334000" y="1243584"/>
            <a:ext cx="609600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165BB"/>
                </a:solidFill>
                <a:latin typeface="Sora"/>
              </a:rPr>
              <a:t>3 publicações · 2 disparos · 2 checkpoints · 1 prazo</a:t>
            </a:r>
          </a:p>
        </p:txBody>
      </p:sp>
      <p:sp>
        <p:nvSpPr>
          <p:cNvPr id="5" name="Agenda da semana"/>
          <p:cNvSpPr/>
          <p:nvPr/>
        </p:nvSpPr>
        <p:spPr>
          <a:xfrm>
            <a:off x="762000" y="1706880"/>
            <a:ext cx="10668000" cy="4542074"/>
          </a:xfrm>
          <a:prstGeom prst="round2DiagRect">
            <a:avLst>
              <a:gd name="adj1" fmla="val 4294"/>
              <a:gd name="adj2" fmla="val 80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26/10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2640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seg · 19:00</a:t>
            </a:r>
          </a:p>
        </p:txBody>
      </p:sp>
      <p:sp>
        <p:nvSpPr>
          <p:cNvPr id="8" name="Tag Instagram"/>
          <p:cNvSpPr/>
          <p:nvPr/>
        </p:nvSpPr>
        <p:spPr>
          <a:xfrm>
            <a:off x="1908048" y="1834896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9712" y="1834896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84" y="1828800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Valor entre encontros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Estático · CTA: Conhecer a HLS</a:t>
            </a:r>
          </a:p>
        </p:txBody>
      </p:sp>
      <p:sp>
        <p:nvSpPr>
          <p:cNvPr id="11" name="Tag Criar"/>
          <p:cNvSpPr/>
          <p:nvPr/>
        </p:nvSpPr>
        <p:spPr>
          <a:xfrm>
            <a:off x="10652696" y="1834896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2" name="Divisor"/>
          <p:cNvSpPr/>
          <p:nvPr/>
        </p:nvSpPr>
        <p:spPr>
          <a:xfrm>
            <a:off x="981456" y="2274639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96559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27/10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40399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ter</a:t>
            </a:r>
          </a:p>
        </p:txBody>
      </p:sp>
      <p:sp>
        <p:nvSpPr>
          <p:cNvPr id="15" name="Tag Prazo"/>
          <p:cNvSpPr/>
          <p:nvPr/>
        </p:nvSpPr>
        <p:spPr>
          <a:xfrm>
            <a:off x="1908048" y="2402655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F2D22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9712" y="2402655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DC-13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4384" y="2396559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Gerar e testar os links rastreados da LP validada (disparo C08 de 28/10)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Responsável: Hamilton (FOCO)</a:t>
            </a:r>
          </a:p>
        </p:txBody>
      </p:sp>
      <p:sp>
        <p:nvSpPr>
          <p:cNvPr id="18" name="Tag Pendente"/>
          <p:cNvSpPr/>
          <p:nvPr/>
        </p:nvSpPr>
        <p:spPr>
          <a:xfrm>
            <a:off x="10393515" y="2402655"/>
            <a:ext cx="817029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Pendente</a:t>
            </a:r>
          </a:p>
        </p:txBody>
      </p:sp>
      <p:sp>
        <p:nvSpPr>
          <p:cNvPr id="19" name="Divisor"/>
          <p:cNvSpPr/>
          <p:nvPr/>
        </p:nvSpPr>
        <p:spPr>
          <a:xfrm>
            <a:off x="981456" y="2842398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964318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28/10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08158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 · 12:30</a:t>
            </a:r>
          </a:p>
        </p:txBody>
      </p:sp>
      <p:sp>
        <p:nvSpPr>
          <p:cNvPr id="22" name="Tag Instagram"/>
          <p:cNvSpPr/>
          <p:nvPr/>
        </p:nvSpPr>
        <p:spPr>
          <a:xfrm>
            <a:off x="1908048" y="2970414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9712" y="2970414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4384" y="2964318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Três revisões para novembro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Estático · CTA: Escolher uma ação</a:t>
            </a:r>
          </a:p>
        </p:txBody>
      </p:sp>
      <p:sp>
        <p:nvSpPr>
          <p:cNvPr id="25" name="Tag Criar"/>
          <p:cNvSpPr/>
          <p:nvPr/>
        </p:nvSpPr>
        <p:spPr>
          <a:xfrm>
            <a:off x="10652696" y="2970414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26" name="Divisor"/>
          <p:cNvSpPr/>
          <p:nvPr/>
        </p:nvSpPr>
        <p:spPr>
          <a:xfrm>
            <a:off x="981456" y="3410158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550366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qua · 12:30</a:t>
            </a:r>
          </a:p>
        </p:txBody>
      </p:sp>
      <p:sp>
        <p:nvSpPr>
          <p:cNvPr id="28" name="Tag WhatsApp"/>
          <p:cNvSpPr/>
          <p:nvPr/>
        </p:nvSpPr>
        <p:spPr>
          <a:xfrm>
            <a:off x="1908048" y="3538174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9712" y="3538174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34384" y="3532078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Tem um colega médico que participaria bem dessas conversas?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Convite · Convidar um colega adequado após entrega de valor</a:t>
            </a:r>
          </a:p>
        </p:txBody>
      </p:sp>
      <p:sp>
        <p:nvSpPr>
          <p:cNvPr id="31" name="Tag Bloqueado"/>
          <p:cNvSpPr/>
          <p:nvPr/>
        </p:nvSpPr>
        <p:spPr>
          <a:xfrm>
            <a:off x="10321509" y="3538174"/>
            <a:ext cx="889035" cy="245745"/>
          </a:xfrm>
          <a:prstGeom prst="roundRect">
            <a:avLst>
              <a:gd name="adj" fmla="val 50000"/>
            </a:avLst>
          </a:prstGeom>
          <a:solidFill>
            <a:srgbClr val="FBF0C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5A00"/>
                </a:solidFill>
                <a:latin typeface="Sora"/>
              </a:rPr>
              <a:t>Bloqueado</a:t>
            </a:r>
          </a:p>
        </p:txBody>
      </p:sp>
      <p:sp>
        <p:nvSpPr>
          <p:cNvPr id="32" name="Divisor"/>
          <p:cNvSpPr/>
          <p:nvPr/>
        </p:nvSpPr>
        <p:spPr>
          <a:xfrm>
            <a:off x="981456" y="3977917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099837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30/10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343677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 · 19:00</a:t>
            </a:r>
          </a:p>
        </p:txBody>
      </p:sp>
      <p:sp>
        <p:nvSpPr>
          <p:cNvPr id="35" name="Tag Instagram"/>
          <p:cNvSpPr/>
          <p:nvPr/>
        </p:nvSpPr>
        <p:spPr>
          <a:xfrm>
            <a:off x="1908048" y="4105933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165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9712" y="4105933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IG-15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4384" y="4099837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Continuidade da comunidade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Estático · CTA: Entrar na comunidade</a:t>
            </a:r>
          </a:p>
        </p:txBody>
      </p:sp>
      <p:sp>
        <p:nvSpPr>
          <p:cNvPr id="38" name="Tag Criar"/>
          <p:cNvSpPr/>
          <p:nvPr/>
        </p:nvSpPr>
        <p:spPr>
          <a:xfrm>
            <a:off x="10652696" y="4105933"/>
            <a:ext cx="557848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39" name="Divisor"/>
          <p:cNvSpPr/>
          <p:nvPr/>
        </p:nvSpPr>
        <p:spPr>
          <a:xfrm>
            <a:off x="981456" y="4545676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685884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sex</a:t>
            </a:r>
          </a:p>
        </p:txBody>
      </p:sp>
      <p:sp>
        <p:nvSpPr>
          <p:cNvPr id="41" name="Tag Checkpoint"/>
          <p:cNvSpPr/>
          <p:nvPr/>
        </p:nvSpPr>
        <p:spPr>
          <a:xfrm>
            <a:off x="1908048" y="4673692"/>
            <a:ext cx="942150" cy="245745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Checkpoint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9712" y="4673692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CK-05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4384" y="4667596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Seleção de temas para novembro (Instagram)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Canal: Instagram</a:t>
            </a:r>
          </a:p>
        </p:txBody>
      </p:sp>
      <p:sp>
        <p:nvSpPr>
          <p:cNvPr id="44" name="Tag A fazer"/>
          <p:cNvSpPr/>
          <p:nvPr/>
        </p:nvSpPr>
        <p:spPr>
          <a:xfrm>
            <a:off x="10551544" y="4673692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45" name="Divisor"/>
          <p:cNvSpPr/>
          <p:nvPr/>
        </p:nvSpPr>
        <p:spPr>
          <a:xfrm>
            <a:off x="981456" y="5113435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235355"/>
            <a:ext cx="877824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376B"/>
                </a:solidFill>
                <a:latin typeface="Sora"/>
              </a:rPr>
              <a:t>31/10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479195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 · 10:30</a:t>
            </a:r>
          </a:p>
        </p:txBody>
      </p:sp>
      <p:sp>
        <p:nvSpPr>
          <p:cNvPr id="48" name="Tag WhatsApp"/>
          <p:cNvSpPr/>
          <p:nvPr/>
        </p:nvSpPr>
        <p:spPr>
          <a:xfrm>
            <a:off x="1908048" y="5241451"/>
            <a:ext cx="926592" cy="245745"/>
          </a:xfrm>
          <a:prstGeom prst="roundRect">
            <a:avLst>
              <a:gd name="adj" fmla="val 50000"/>
            </a:avLst>
          </a:prstGeom>
          <a:solidFill>
            <a:srgbClr val="03376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WhatsApp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9712" y="5241451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4384" y="5235355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Uma revisão possível para começar novembro.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Reação · Encerrar com um compromisso viável para novembro</a:t>
            </a:r>
          </a:p>
        </p:txBody>
      </p:sp>
      <p:sp>
        <p:nvSpPr>
          <p:cNvPr id="51" name="Tag A fazer"/>
          <p:cNvSpPr/>
          <p:nvPr/>
        </p:nvSpPr>
        <p:spPr>
          <a:xfrm>
            <a:off x="10551544" y="5241451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  <p:sp>
        <p:nvSpPr>
          <p:cNvPr id="52" name="Divisor"/>
          <p:cNvSpPr/>
          <p:nvPr/>
        </p:nvSpPr>
        <p:spPr>
          <a:xfrm>
            <a:off x="981456" y="5681194"/>
            <a:ext cx="10229088" cy="8534"/>
          </a:xfrm>
          <a:prstGeom prst="rect">
            <a:avLst/>
          </a:prstGeom>
          <a:solidFill>
            <a:srgbClr val="D3D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40" y="5821402"/>
            <a:ext cx="877824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6C77"/>
                </a:solidFill>
                <a:latin typeface="Sora"/>
              </a:rPr>
              <a:t>sáb</a:t>
            </a:r>
          </a:p>
        </p:txBody>
      </p:sp>
      <p:sp>
        <p:nvSpPr>
          <p:cNvPr id="54" name="Tag Checkpoint"/>
          <p:cNvSpPr/>
          <p:nvPr/>
        </p:nvSpPr>
        <p:spPr>
          <a:xfrm>
            <a:off x="1908048" y="5809210"/>
            <a:ext cx="942150" cy="245745"/>
          </a:xfrm>
          <a:prstGeom prst="roundRect">
            <a:avLst>
              <a:gd name="adj" fmla="val 50000"/>
            </a:avLst>
          </a:prstGeom>
          <a:solidFill>
            <a:srgbClr val="88E7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3376B"/>
                </a:solidFill>
                <a:latin typeface="Sora"/>
              </a:rPr>
              <a:t>Checkpoint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29712" y="5809210"/>
            <a:ext cx="755904" cy="2316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165BB"/>
                </a:solidFill>
                <a:latin typeface="Sora"/>
              </a:rPr>
              <a:t>CK-06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34384" y="5803114"/>
            <a:ext cx="5486400" cy="3970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1" i="0">
                <a:solidFill>
                  <a:srgbClr val="03376B"/>
                </a:solidFill>
                <a:latin typeface="Sora"/>
              </a:rPr>
              <a:t>Fechamento de outubro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4D535C"/>
                </a:solidFill>
                <a:latin typeface="Sora"/>
              </a:rPr>
              <a:t>Canal: Comunidades</a:t>
            </a:r>
          </a:p>
        </p:txBody>
      </p:sp>
      <p:sp>
        <p:nvSpPr>
          <p:cNvPr id="57" name="Tag A fazer"/>
          <p:cNvSpPr/>
          <p:nvPr/>
        </p:nvSpPr>
        <p:spPr>
          <a:xfrm>
            <a:off x="10551544" y="5809210"/>
            <a:ext cx="659000" cy="245745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D535C"/>
                </a:solidFill>
                <a:latin typeface="Sora"/>
              </a:rPr>
              <a:t>A fazer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Textos para validação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Legendas do feed do Instagram e mensagens das comunidades no WhatsApp</a:t>
            </a:r>
          </a:p>
        </p:txBody>
      </p:sp>
      <p:sp>
        <p:nvSpPr>
          <p:cNvPr id="4" name="Rótulo"/>
          <p:cNvSpPr txBox="1"/>
          <p:nvPr/>
        </p:nvSpPr>
        <p:spPr>
          <a:xfrm>
            <a:off x="762000" y="2462784"/>
            <a:ext cx="8534400" cy="31699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8E7FA"/>
                </a:solidFill>
                <a:latin typeface="Montserrat Alternates"/>
              </a:rPr>
              <a:t>.anexos</a:t>
            </a:r>
          </a:p>
        </p:txBody>
      </p:sp>
      <p:sp>
        <p:nvSpPr>
          <p:cNvPr id="5" name="Versão"/>
          <p:cNvSpPr txBox="1"/>
          <p:nvPr/>
        </p:nvSpPr>
        <p:spPr>
          <a:xfrm>
            <a:off x="6553200" y="6199632"/>
            <a:ext cx="4876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9D2F7"/>
                </a:solidFill>
                <a:latin typeface="Sora"/>
              </a:rPr>
              <a:t>Versão para validação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02/10 e 04/10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01"/>
          <p:cNvSpPr/>
          <p:nvPr/>
        </p:nvSpPr>
        <p:spPr>
          <a:xfrm>
            <a:off x="762000" y="1548384"/>
            <a:ext cx="5230368" cy="4397108"/>
          </a:xfrm>
          <a:prstGeom prst="round2DiagRect">
            <a:avLst>
              <a:gd name="adj1" fmla="val 4436"/>
              <a:gd name="adj2" fmla="val 83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Estático"/>
          <p:cNvSpPr/>
          <p:nvPr/>
        </p:nvSpPr>
        <p:spPr>
          <a:xfrm>
            <a:off x="1030224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6" name="Tag Criar"/>
          <p:cNvSpPr/>
          <p:nvPr/>
        </p:nvSpPr>
        <p:spPr>
          <a:xfrm>
            <a:off x="1927777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IG-01 · sex 02/10 · 19:00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Para quem toma decisões na saúde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3113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Quem cuida da saúde também precisa de espaço para pensar suas decisões.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HLS | conhecimento, especialistas e troca entre profissionais da saúde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Tipografia forte, imagem de profissionais em conversa, sem simular encontro real da HLS se a foto não for documental.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A rotina pede decisões clínicas, operacionais e de liderança. Algumas amadurecem melhor quando há acesso a boas perguntas e experiências de outros profissionais. A HLS reúne médicos e outras especialidades da saúde em comunidades segmentadas para compartilhar conteúdo, especialistas e oportunidades relevantes. Se esse tipo de troca faz sentido para você, conheça a HLS pelo link da bio.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Conhecer a comunidade</a:t>
            </a:r>
          </a:p>
        </p:txBody>
      </p:sp>
      <p:sp>
        <p:nvSpPr>
          <p:cNvPr id="10" name="Publicação IG-02"/>
          <p:cNvSpPr/>
          <p:nvPr/>
        </p:nvSpPr>
        <p:spPr>
          <a:xfrm>
            <a:off x="6199632" y="1548384"/>
            <a:ext cx="5230368" cy="4397108"/>
          </a:xfrm>
          <a:prstGeom prst="round2DiagRect">
            <a:avLst>
              <a:gd name="adj1" fmla="val 4436"/>
              <a:gd name="adj2" fmla="val 83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Carrossel"/>
          <p:cNvSpPr/>
          <p:nvPr/>
        </p:nvSpPr>
        <p:spPr>
          <a:xfrm>
            <a:off x="6467856" y="1767840"/>
            <a:ext cx="847924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Carrossel</a:t>
            </a:r>
          </a:p>
        </p:txBody>
      </p:sp>
      <p:sp>
        <p:nvSpPr>
          <p:cNvPr id="12" name="Tag Pronto"/>
          <p:cNvSpPr/>
          <p:nvPr/>
        </p:nvSpPr>
        <p:spPr>
          <a:xfrm>
            <a:off x="7449892" y="1767840"/>
            <a:ext cx="684592" cy="25374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BAC5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3376B"/>
                </a:solidFill>
                <a:latin typeface="Sora"/>
              </a:rPr>
              <a:t>Pronto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IG-02 · dom 04/10 · 10:00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Isolamento profissional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22986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FUNÇÃO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Mostrar o custo de pensar problemas da clínica sem contraponto de outros profissionais.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Quem lidera uma clínica costuma decidir com as informações disponíveis na própria rotina. Isso ajuda a agir rápido, mas pode limitar as perguntas feitas antes de escolher um caminho. Conversas entre pares trazem experiências diferentes para a mesa. Qual decisão profissional você gostaria de discutir com alguém que vive desafios parecidos? Envie este carrossel a um colega com quem você teria essa conversa.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Compartilhar com um par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06/10 e 08/10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03"/>
          <p:cNvSpPr/>
          <p:nvPr/>
        </p:nvSpPr>
        <p:spPr>
          <a:xfrm>
            <a:off x="762000" y="1548384"/>
            <a:ext cx="5230368" cy="4405909"/>
          </a:xfrm>
          <a:prstGeom prst="round2DiagRect">
            <a:avLst>
              <a:gd name="adj1" fmla="val 4427"/>
              <a:gd name="adj2" fmla="val 83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Estático"/>
          <p:cNvSpPr/>
          <p:nvPr/>
        </p:nvSpPr>
        <p:spPr>
          <a:xfrm>
            <a:off x="1030224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6" name="Tag Criar"/>
          <p:cNvSpPr/>
          <p:nvPr/>
        </p:nvSpPr>
        <p:spPr>
          <a:xfrm>
            <a:off x="1927777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IG-03 · ter 06/10 · 12:30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A pergunta antes da resposta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3122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Antes de pedir uma solução, descreva o problema que se repete.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Quando acontece? Quem é afetado? O que já foi tentado?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Tipografia e três campos simples, como notas de uma reunião.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Muitas reuniões começam com sugestões de solução e terminam sem acordo sobre o problema. Na próxima dificuldade recorrente da clínica, faça três perguntas: quando ela aparece, quem precisa lidar com ela e o que a equipe já tentou. Esse registro ajuda a distinguir um caso isolado de uma falha de processo. Salve para usar na próxima conversa de gestão.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Salvar</a:t>
            </a:r>
          </a:p>
        </p:txBody>
      </p:sp>
      <p:sp>
        <p:nvSpPr>
          <p:cNvPr id="10" name="Publicação IG-04"/>
          <p:cNvSpPr/>
          <p:nvPr/>
        </p:nvSpPr>
        <p:spPr>
          <a:xfrm>
            <a:off x="6199632" y="1548384"/>
            <a:ext cx="5230368" cy="4405909"/>
          </a:xfrm>
          <a:prstGeom prst="round2DiagRect">
            <a:avLst>
              <a:gd name="adj1" fmla="val 4427"/>
              <a:gd name="adj2" fmla="val 83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Carrossel"/>
          <p:cNvSpPr/>
          <p:nvPr/>
        </p:nvSpPr>
        <p:spPr>
          <a:xfrm>
            <a:off x="6467856" y="1767840"/>
            <a:ext cx="847924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Carrossel</a:t>
            </a:r>
          </a:p>
        </p:txBody>
      </p:sp>
      <p:sp>
        <p:nvSpPr>
          <p:cNvPr id="12" name="Tag Pronto"/>
          <p:cNvSpPr/>
          <p:nvPr/>
        </p:nvSpPr>
        <p:spPr>
          <a:xfrm>
            <a:off x="7449892" y="1767840"/>
            <a:ext cx="684592" cy="25374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BAC5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3376B"/>
                </a:solidFill>
                <a:latin typeface="Sora"/>
              </a:rPr>
              <a:t>Pronto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IG-04 · qui 08/10 · 19:00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A consulta pode ser excelente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24570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FUNÇÃO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Ampliar a ideia de experiência do paciente para antes e depois da consulta.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 percepção do paciente começa no primeiro contato. Agendamento, confirmação, orientações para chegar e clareza sobre os próximos passos compõem a experiência. Vale percorrer essa jornada como se você estivesse chegando à clínica pela primeira vez. Em qual contato a sua equipe encontraria mais dúvidas hoje? Escolha um ponto para revisar nesta semana.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Revisar um contato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10/10 e 12/10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05"/>
          <p:cNvSpPr/>
          <p:nvPr/>
        </p:nvSpPr>
        <p:spPr>
          <a:xfrm>
            <a:off x="762000" y="1548384"/>
            <a:ext cx="5230368" cy="4397108"/>
          </a:xfrm>
          <a:prstGeom prst="round2DiagRect">
            <a:avLst>
              <a:gd name="adj1" fmla="val 4436"/>
              <a:gd name="adj2" fmla="val 83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Estático"/>
          <p:cNvSpPr/>
          <p:nvPr/>
        </p:nvSpPr>
        <p:spPr>
          <a:xfrm>
            <a:off x="1030224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6" name="Tag Criar"/>
          <p:cNvSpPr/>
          <p:nvPr/>
        </p:nvSpPr>
        <p:spPr>
          <a:xfrm>
            <a:off x="1927777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IG-05 · sáb 10/10 · 10:00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Conferência antes da consulta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3113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O paciente recebeu o que precisa saber antes de chegar?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Horário. Endereço. Preparo, quando houver. Canal para dúvidas.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Checklist limpo, sem ícones médicos decorativos.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Uma confirmação útil evita que a pessoa tenha de procurar informações espalhadas em mensagens diferentes. Confira com a equipe se o contato prévio informa horário, endereço, orientações pertinentes e onde tirar dúvidas. Se houver preparo específico, o texto precisa passar por validação do profissional responsável. O objetivo é dar contexto para a chegada, com segurança e clareza. Salve este checklist para a próxima revisão do atendimento.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Salvar</a:t>
            </a:r>
          </a:p>
        </p:txBody>
      </p:sp>
      <p:sp>
        <p:nvSpPr>
          <p:cNvPr id="10" name="Publicação IG-06"/>
          <p:cNvSpPr/>
          <p:nvPr/>
        </p:nvSpPr>
        <p:spPr>
          <a:xfrm>
            <a:off x="6199632" y="1548384"/>
            <a:ext cx="5230368" cy="4397108"/>
          </a:xfrm>
          <a:prstGeom prst="round2DiagRect">
            <a:avLst>
              <a:gd name="adj1" fmla="val 4436"/>
              <a:gd name="adj2" fmla="val 83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Estático"/>
          <p:cNvSpPr/>
          <p:nvPr/>
        </p:nvSpPr>
        <p:spPr>
          <a:xfrm>
            <a:off x="6467856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12" name="Tag Criar"/>
          <p:cNvSpPr/>
          <p:nvPr/>
        </p:nvSpPr>
        <p:spPr>
          <a:xfrm>
            <a:off x="7365409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IG-06 · seg 12/10 · 19:00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O valor da troca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29461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Uma experiência compartilhada pode melhorar a próxima pergunta de outra pessoa.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HLS | troca entre profissionais da saúde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Composição editorial com duas perspectivas ou duas cadeiras em conversa.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Um profissional traz uma situação vivida. Outro pergunta o que ainda não foi considerado. A conversa amplia o repertório de ambos, mesmo quando atuam em contextos diferentes. É esse tipo de troca que queremos cultivar na HLS, junto de conteúdo e acesso a especialistas. Para conhecer a comunidade adequada à sua área de atuação, acesse o link da bio.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Conhecer a HLS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14/10 e 16/10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07"/>
          <p:cNvSpPr/>
          <p:nvPr/>
        </p:nvSpPr>
        <p:spPr>
          <a:xfrm>
            <a:off x="762000" y="1548384"/>
            <a:ext cx="5230368" cy="4405909"/>
          </a:xfrm>
          <a:prstGeom prst="round2DiagRect">
            <a:avLst>
              <a:gd name="adj1" fmla="val 4427"/>
              <a:gd name="adj2" fmla="val 83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Carrossel"/>
          <p:cNvSpPr/>
          <p:nvPr/>
        </p:nvSpPr>
        <p:spPr>
          <a:xfrm>
            <a:off x="1030224" y="1767840"/>
            <a:ext cx="847924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Carrossel</a:t>
            </a:r>
          </a:p>
        </p:txBody>
      </p:sp>
      <p:sp>
        <p:nvSpPr>
          <p:cNvPr id="6" name="Tag Pronto"/>
          <p:cNvSpPr/>
          <p:nvPr/>
        </p:nvSpPr>
        <p:spPr>
          <a:xfrm>
            <a:off x="2012260" y="1767840"/>
            <a:ext cx="684592" cy="25374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3BAC5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3376B"/>
                </a:solidFill>
                <a:latin typeface="Sora"/>
              </a:rPr>
              <a:t>Pronto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IG-07 · qua 14/10 · 12:30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Uma comunidade ganha força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24570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FUNÇÃO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Apresentar a contribuição do Dr. Rafael à visão de gestão e comunidade da HLS.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 trajetória do Dr. Rafael reúne medicina, operação e liderança. No carrossel, essa experiência aparece como ponto de partida para discutir uma dificuldade conhecida por muitos gestores: a clínica depender de uma pessoa para decidir tudo. Quando práticas vividas são compartilhadas, outros profissionais ganham referências para examinar a própria rotina. Conheça a HLS pelo link da bio.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Conhecer a HLS</a:t>
            </a:r>
          </a:p>
        </p:txBody>
      </p:sp>
      <p:sp>
        <p:nvSpPr>
          <p:cNvPr id="10" name="Publicação IG-08"/>
          <p:cNvSpPr/>
          <p:nvPr/>
        </p:nvSpPr>
        <p:spPr>
          <a:xfrm>
            <a:off x="6199632" y="1548384"/>
            <a:ext cx="5230368" cy="4405909"/>
          </a:xfrm>
          <a:prstGeom prst="round2DiagRect">
            <a:avLst>
              <a:gd name="adj1" fmla="val 4427"/>
              <a:gd name="adj2" fmla="val 83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Estático"/>
          <p:cNvSpPr/>
          <p:nvPr/>
        </p:nvSpPr>
        <p:spPr>
          <a:xfrm>
            <a:off x="6467856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12" name="Tag Criar"/>
          <p:cNvSpPr/>
          <p:nvPr/>
        </p:nvSpPr>
        <p:spPr>
          <a:xfrm>
            <a:off x="7365409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IG-08 · sex 16/10 · 19:00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Decisão concentrada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3122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Se toda decisão chega ao dono, a equipe espera mais do que deveria.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Comece pelas decisões que se repetem.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Fluxo simples de três decisões convergindo para uma pessoa, sem ilustrar sobrecarga de forma dramática.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Observe quais perguntas chegam à liderança várias vezes por semana. Em cada uma, registre o critério usado para decidir, quem pode aplicá-lo e quando o caso precisa ser escalado. Esse exercício ajuda a dar autonomia com limites claros. Escolha uma decisão recorrente da sua rotina para mapear hoje.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Observar a rotina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18/10 e 20/10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09"/>
          <p:cNvSpPr/>
          <p:nvPr/>
        </p:nvSpPr>
        <p:spPr>
          <a:xfrm>
            <a:off x="762000" y="1548384"/>
            <a:ext cx="5230368" cy="4590732"/>
          </a:xfrm>
          <a:prstGeom prst="round2DiagRect">
            <a:avLst>
              <a:gd name="adj1" fmla="val 4249"/>
              <a:gd name="adj2" fmla="val 79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Estático"/>
          <p:cNvSpPr/>
          <p:nvPr/>
        </p:nvSpPr>
        <p:spPr>
          <a:xfrm>
            <a:off x="1030224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6" name="Tag Criar"/>
          <p:cNvSpPr/>
          <p:nvPr/>
        </p:nvSpPr>
        <p:spPr>
          <a:xfrm>
            <a:off x="1927777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IG-09 · dom 18/10 · 10:00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Reunião com próximo passo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3122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Uma reunião útil termina com responsável e prazo.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Decisão tomada. Pessoa responsável. Data de retorno.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Ata curta de três linhas, com espaço visual e alta legibilidade.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Uma conversa pode ser produtiva e ainda assim se perder no dia seguinte. Antes de encerrar, registre a decisão, quem assume a ação e quando o grupo voltará ao assunto. Se surgiu um bloqueio, ele também precisa de dono. Use essa estrutura na próxima reunião curta da equipe e compare a clareza dos encaminhamentos. Salve para consultar depois.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Salvar</a:t>
            </a:r>
          </a:p>
        </p:txBody>
      </p:sp>
      <p:sp>
        <p:nvSpPr>
          <p:cNvPr id="10" name="Publicação IG-10"/>
          <p:cNvSpPr/>
          <p:nvPr/>
        </p:nvSpPr>
        <p:spPr>
          <a:xfrm>
            <a:off x="6199632" y="1548384"/>
            <a:ext cx="5230368" cy="4590732"/>
          </a:xfrm>
          <a:prstGeom prst="round2DiagRect">
            <a:avLst>
              <a:gd name="adj1" fmla="val 4249"/>
              <a:gd name="adj2" fmla="val 796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Estático"/>
          <p:cNvSpPr/>
          <p:nvPr/>
        </p:nvSpPr>
        <p:spPr>
          <a:xfrm>
            <a:off x="6467856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12" name="Tag Criar"/>
          <p:cNvSpPr/>
          <p:nvPr/>
        </p:nvSpPr>
        <p:spPr>
          <a:xfrm>
            <a:off x="7365409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IG-10 · ter 20/10 · 12:30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Novidade sob análise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33069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Uma novidade merece três perguntas antes de entrar na rotina.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Que evidência existe? Para quem se aplica? O que muda na operação?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Três perguntas numeradas; sem imagem de equipamento ou produto específico.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Um tema novo pode despertar interesse e ainda exigir avaliação cuidadosa. Comece pela qualidade da evidência, pelo perfil de pessoas a quem a proposta se aplica e pelas condições necessárias para implementá-la. Depois, discuta com profissionais habilitados e consulte as normas pertinentes à sua atuação. Compartilhe com alguém que participa dessas decisões na sua equipe.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Compartilhar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Publicação de 22/10: carrossel de 7 lâminas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11"/>
          <p:cNvSpPr/>
          <p:nvPr/>
        </p:nvSpPr>
        <p:spPr>
          <a:xfrm>
            <a:off x="762000" y="1548384"/>
            <a:ext cx="4876800" cy="4645152"/>
          </a:xfrm>
          <a:prstGeom prst="round2DiagRect">
            <a:avLst>
              <a:gd name="adj1" fmla="val 4199"/>
              <a:gd name="adj2" fmla="val 787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Carrossel"/>
          <p:cNvSpPr/>
          <p:nvPr/>
        </p:nvSpPr>
        <p:spPr>
          <a:xfrm>
            <a:off x="1030224" y="1767840"/>
            <a:ext cx="847924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Carrossel</a:t>
            </a:r>
          </a:p>
        </p:txBody>
      </p:sp>
      <p:sp>
        <p:nvSpPr>
          <p:cNvPr id="6" name="Tag Criar, 7 lâminas"/>
          <p:cNvSpPr/>
          <p:nvPr/>
        </p:nvSpPr>
        <p:spPr>
          <a:xfrm>
            <a:off x="2012260" y="1767840"/>
            <a:ext cx="1176412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Criar, 7 lâminas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340352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IG-11 · qui 22/10 · 19:00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340352" cy="531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Como avaliar uma tecnologia antes de levar à clínica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945435"/>
            <a:ext cx="4340352" cy="3207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ESTRUTURA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Abertura curiosa + passo a passo. A primeira lâmina abre uma dúvida concreta; as seguintes avançam de evidência para aplicação, operação e decisão.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7 lâminas, 1080 x 1350 px, uma mensagem central por lâmina. Usar a identidade dos carrosséis anexados, com gráficos e documentos apenas se forem dados reais e autorizados.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A decisão de incorporar uma tecnologia reúne evidência, adequação à prática e capacidade de execução. Antes de comparar opções, defina o problema que precisa ser resolvido e os critérios pelos quais a equipe avaliará a escolha. O carrossel organiza quatro perguntas para iniciar essa análise. Elas não substituem avaliação científica, técnica ou regulatória específica. Salve para usar na próxima reunião.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Salvar</a:t>
            </a:r>
          </a:p>
        </p:txBody>
      </p:sp>
      <p:sp>
        <p:nvSpPr>
          <p:cNvPr id="10" name="Lâminas"/>
          <p:cNvSpPr/>
          <p:nvPr/>
        </p:nvSpPr>
        <p:spPr>
          <a:xfrm>
            <a:off x="5846064" y="1548384"/>
            <a:ext cx="5583936" cy="4645152"/>
          </a:xfrm>
          <a:prstGeom prst="round2DiagRect">
            <a:avLst>
              <a:gd name="adj1" fmla="val 4199"/>
              <a:gd name="adj2" fmla="val 787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8672" y="1767840"/>
            <a:ext cx="4998720" cy="268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.as 7 lâminas</a:t>
            </a:r>
          </a:p>
        </p:txBody>
      </p:sp>
      <p:sp>
        <p:nvSpPr>
          <p:cNvPr id="12" name="Número da lâmina"/>
          <p:cNvSpPr/>
          <p:nvPr/>
        </p:nvSpPr>
        <p:spPr>
          <a:xfrm>
            <a:off x="6138672" y="2157984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0736" y="2151888"/>
            <a:ext cx="4486656" cy="406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Uma tecnologia parece promissora. O que você precisa saber antes de adotá-la?</a:t>
            </a:r>
          </a:p>
        </p:txBody>
      </p:sp>
      <p:sp>
        <p:nvSpPr>
          <p:cNvPr id="14" name="Número da lâmina"/>
          <p:cNvSpPr/>
          <p:nvPr/>
        </p:nvSpPr>
        <p:spPr>
          <a:xfrm>
            <a:off x="6138672" y="2686126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0736" y="2680030"/>
            <a:ext cx="4486656" cy="5910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O primeiro impulso costuma ser perguntar pelo equipamento. Comece pela decisão clínica ou operacional que ele deveria melhorar.</a:t>
            </a:r>
          </a:p>
        </p:txBody>
      </p:sp>
      <p:sp>
        <p:nvSpPr>
          <p:cNvPr id="16" name="Número da lâmina"/>
          <p:cNvSpPr/>
          <p:nvPr/>
        </p:nvSpPr>
        <p:spPr>
          <a:xfrm>
            <a:off x="6138672" y="3399092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0736" y="3392996"/>
            <a:ext cx="4486656" cy="406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1. Examine a evidência. Que resultados foram estudados, em qual população e com quais limites?</a:t>
            </a:r>
          </a:p>
        </p:txBody>
      </p:sp>
      <p:sp>
        <p:nvSpPr>
          <p:cNvPr id="18" name="Número da lâmina"/>
          <p:cNvSpPr/>
          <p:nvPr/>
        </p:nvSpPr>
        <p:spPr>
          <a:xfrm>
            <a:off x="6138672" y="3927234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0736" y="3921138"/>
            <a:ext cx="4486656" cy="406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2. Defina a aplicação. Para quais situações ela faz sentido na sua prática? Quem precisa avaliar a indicação?</a:t>
            </a:r>
          </a:p>
        </p:txBody>
      </p:sp>
      <p:sp>
        <p:nvSpPr>
          <p:cNvPr id="20" name="Número da lâmina"/>
          <p:cNvSpPr/>
          <p:nvPr/>
        </p:nvSpPr>
        <p:spPr>
          <a:xfrm>
            <a:off x="6138672" y="4455376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0736" y="4449280"/>
            <a:ext cx="4486656" cy="406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3. Calcule a operação. Treinamento, tempo de equipe, manutenção e custos entram na mesma conversa.</a:t>
            </a:r>
          </a:p>
        </p:txBody>
      </p:sp>
      <p:sp>
        <p:nvSpPr>
          <p:cNvPr id="22" name="Número da lâmina"/>
          <p:cNvSpPr/>
          <p:nvPr/>
        </p:nvSpPr>
        <p:spPr>
          <a:xfrm>
            <a:off x="6138672" y="4983518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0736" y="4977422"/>
            <a:ext cx="4486656" cy="406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4. Estabeleça critérios de acompanhamento. O que será observado depois da implementação?</a:t>
            </a:r>
          </a:p>
        </p:txBody>
      </p:sp>
      <p:sp>
        <p:nvSpPr>
          <p:cNvPr id="24" name="Número da lâmina"/>
          <p:cNvSpPr/>
          <p:nvPr/>
        </p:nvSpPr>
        <p:spPr>
          <a:xfrm>
            <a:off x="6138672" y="5511660"/>
            <a:ext cx="341376" cy="341376"/>
          </a:xfrm>
          <a:prstGeom prst="round2DiagRect">
            <a:avLst>
              <a:gd name="adj1" fmla="val 30000"/>
              <a:gd name="adj2" fmla="val 7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165BB"/>
                </a:solidFill>
                <a:latin typeface="Sor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0736" y="5505564"/>
            <a:ext cx="4486656" cy="406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Uma adoção responsável começa com perguntas melhores. Salve este roteiro para a próxima análise da equipe.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24/10 e 26/10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12"/>
          <p:cNvSpPr/>
          <p:nvPr/>
        </p:nvSpPr>
        <p:spPr>
          <a:xfrm>
            <a:off x="762000" y="1548384"/>
            <a:ext cx="5230368" cy="4564329"/>
          </a:xfrm>
          <a:prstGeom prst="round2DiagRect">
            <a:avLst>
              <a:gd name="adj1" fmla="val 4273"/>
              <a:gd name="adj2" fmla="val 80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Estático"/>
          <p:cNvSpPr/>
          <p:nvPr/>
        </p:nvSpPr>
        <p:spPr>
          <a:xfrm>
            <a:off x="1030224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6" name="Tag Criar"/>
          <p:cNvSpPr/>
          <p:nvPr/>
        </p:nvSpPr>
        <p:spPr>
          <a:xfrm>
            <a:off x="1927777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IG-12 · sáb 24/10 · 10:00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Conversas entre especialidades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3280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Áreas diferentes podem fazer a mesma boa pergunta: o que funciona na prática?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A resposta depende do contexto de cada profissão.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Retratar diferentes profissionais da saúde sem sugerir que todos executam os mesmos atos.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Profissionais de áreas diferentes podem compartilhar desafios de comunicação, organização e atualização. A aplicação de cada ideia precisa respeitar a formação, o escopo de atuação e as normas da profissão. Na HLS, há comunidades segmentadas para médicos e para outras especialidades da saúde. Que tema de gestão ou atualização você gostaria de ver em uma conversa entre profissionais? Escreva nos comentários.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Comentar um tema</a:t>
            </a:r>
          </a:p>
        </p:txBody>
      </p:sp>
      <p:sp>
        <p:nvSpPr>
          <p:cNvPr id="10" name="Publicação IG-13"/>
          <p:cNvSpPr/>
          <p:nvPr/>
        </p:nvSpPr>
        <p:spPr>
          <a:xfrm>
            <a:off x="6199632" y="1548384"/>
            <a:ext cx="5230368" cy="4564329"/>
          </a:xfrm>
          <a:prstGeom prst="round2DiagRect">
            <a:avLst>
              <a:gd name="adj1" fmla="val 4273"/>
              <a:gd name="adj2" fmla="val 80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Estático"/>
          <p:cNvSpPr/>
          <p:nvPr/>
        </p:nvSpPr>
        <p:spPr>
          <a:xfrm>
            <a:off x="6467856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12" name="Tag Criar"/>
          <p:cNvSpPr/>
          <p:nvPr/>
        </p:nvSpPr>
        <p:spPr>
          <a:xfrm>
            <a:off x="7365409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IG-13 · seg 26/10 · 19:00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Valor entre encontros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29461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Uma comunidade útil continua entregando valor entre os encontros.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Conteúdo. Perguntas relevantes. Especialistas. Oportunidades coerentes.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Blocos editoriais discretos; evitar calendário de eventos sem datas confirmadas.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Uma live pode abrir uma discussão, mas a relação com a comunidade continua depois dela. Curadoria de temas, conteúdo aplicável e acesso a perspectivas diferentes ajudam o profissional a manter o assunto vivo na rotina. Esse é o papel que a HLS busca construir. Para acompanhar os próximos conteúdos na comunidade da sua área, acesse o link da bio.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Conhecer a HLS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Publicações de 28/10 e 30/10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legendas do feed</a:t>
            </a:r>
          </a:p>
        </p:txBody>
      </p:sp>
      <p:sp>
        <p:nvSpPr>
          <p:cNvPr id="4" name="Publicação IG-14"/>
          <p:cNvSpPr/>
          <p:nvPr/>
        </p:nvSpPr>
        <p:spPr>
          <a:xfrm>
            <a:off x="762000" y="1548384"/>
            <a:ext cx="5230368" cy="4493920"/>
          </a:xfrm>
          <a:prstGeom prst="round2DiagRect">
            <a:avLst>
              <a:gd name="adj1" fmla="val 4340"/>
              <a:gd name="adj2" fmla="val 813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ag Estático"/>
          <p:cNvSpPr/>
          <p:nvPr/>
        </p:nvSpPr>
        <p:spPr>
          <a:xfrm>
            <a:off x="1030224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6" name="Tag Criar"/>
          <p:cNvSpPr/>
          <p:nvPr/>
        </p:nvSpPr>
        <p:spPr>
          <a:xfrm>
            <a:off x="1927777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224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IG-14 · qua 28/10 · 12:30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Três revisões para novembro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224" y="2710205"/>
            <a:ext cx="4693920" cy="30341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Antes do próximo mês, escolha uma rotina para revisar.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Primeiro contato. Reunião de equipe. Critérios para novas soluções.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Três cartões simples; manter as frases da arte curtas.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Outubro trouxe três perguntas práticas para a gestão: o paciente recebe orientação clara antes da consulta? As reuniões terminam com responsáveis? Novas soluções são avaliadas com critérios definidos? Escolha uma dessas rotinas, observe como ela funciona hoje e registre um ajuste viável para novembro. Uma revisão pequena e concreta já cria uma conversa melhor com a equipe.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Escolher uma ação</a:t>
            </a:r>
          </a:p>
        </p:txBody>
      </p:sp>
      <p:sp>
        <p:nvSpPr>
          <p:cNvPr id="10" name="Publicação IG-15"/>
          <p:cNvSpPr/>
          <p:nvPr/>
        </p:nvSpPr>
        <p:spPr>
          <a:xfrm>
            <a:off x="6199632" y="1548384"/>
            <a:ext cx="5230368" cy="4493920"/>
          </a:xfrm>
          <a:prstGeom prst="round2DiagRect">
            <a:avLst>
              <a:gd name="adj1" fmla="val 4340"/>
              <a:gd name="adj2" fmla="val 813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ag Estático"/>
          <p:cNvSpPr/>
          <p:nvPr/>
        </p:nvSpPr>
        <p:spPr>
          <a:xfrm>
            <a:off x="6467856" y="1767840"/>
            <a:ext cx="763441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Estático</a:t>
            </a:r>
          </a:p>
        </p:txBody>
      </p:sp>
      <p:sp>
        <p:nvSpPr>
          <p:cNvPr id="12" name="Tag Criar"/>
          <p:cNvSpPr/>
          <p:nvPr/>
        </p:nvSpPr>
        <p:spPr>
          <a:xfrm>
            <a:off x="7365409" y="1767840"/>
            <a:ext cx="574167" cy="253746"/>
          </a:xfrm>
          <a:prstGeom prst="roundRect">
            <a:avLst>
              <a:gd name="adj" fmla="val 50000"/>
            </a:avLst>
          </a:prstGeom>
          <a:solidFill>
            <a:srgbClr val="E6E9E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535C"/>
                </a:solidFill>
                <a:latin typeface="Sora"/>
              </a:rPr>
              <a:t>Criar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856" y="2084832"/>
            <a:ext cx="469392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6C77"/>
                </a:solidFill>
                <a:latin typeface="Sora"/>
              </a:rPr>
              <a:t>IG-15 · sex 30/10 · 19:00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856" y="2328672"/>
            <a:ext cx="4693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3376B"/>
                </a:solidFill>
                <a:latin typeface="Sora"/>
              </a:rPr>
              <a:t>Continuidade da comunidade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2710205"/>
            <a:ext cx="4693920" cy="32101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TEXTO DA ARTE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Outubro termina. As decisões continuam.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APOIO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Siga a conversa na HLS.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DIREÇÃO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Assinatura institucional HLS, sem promessa de agenda futura ainda não confirmada.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LEGENDA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Ao longo do mês, falamos sobre jornada do paciente, decisões de gestão, avaliação de tecnologias e troca entre profissionais. Esses temas continuam presentes na prática depois que o calendário vira. A HLS é um espaço para acompanhar conteúdo, especialistas e conversas relevantes para profissionais da saúde. Se você quer participar, acesse o link da bio e escolha a comunidade correspondente à sua área.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850" b="1" i="0" spc="80">
                <a:solidFill>
                  <a:srgbClr val="0165BB"/>
                </a:solidFill>
                <a:latin typeface="Sora"/>
              </a:rPr>
              <a:t>CTA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Entrar na comunidade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B01 · Boas-vindas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boas-vindas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Enviada na entrada de cada membro: novos entrantes a partir de 05/10.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2036064"/>
            <a:ext cx="5230368" cy="2874442"/>
          </a:xfrm>
          <a:prstGeom prst="round2DiagRect">
            <a:avLst>
              <a:gd name="adj1" fmla="val 6786"/>
              <a:gd name="adj2" fmla="val 127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55520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55520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96896"/>
            <a:ext cx="4693920" cy="20575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👋 </a:t>
            </a:r>
            <a:r>
              <a:rPr sz="1100" b="1" i="0">
                <a:solidFill>
                  <a:srgbClr val="03376B"/>
                </a:solidFill>
                <a:latin typeface="Sora"/>
              </a:rPr>
              <a:t>Bem-vindo à comunidade de médicos da HLS.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Por aqui, vamos conversar sobre decisões da clínica, atualização profissional e experiências que ajudam a olhar a rotina com mais critério.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As publicações são feitas pela equipe HLS. Você pode participar pelas enquetes e reações disponíveis, no seu ritmo.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📌 Para começar, observe uma decisão de gestão que voltou à sua mesa nesta semana. Ela pode ser um bom ponto de partida para aproveitar os próximos conteúdos.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2036064"/>
            <a:ext cx="5230368" cy="2874442"/>
          </a:xfrm>
          <a:prstGeom prst="round2DiagRect">
            <a:avLst>
              <a:gd name="adj1" fmla="val 6786"/>
              <a:gd name="adj2" fmla="val 1272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55520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55520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96896"/>
            <a:ext cx="4693920" cy="20575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👋 </a:t>
            </a:r>
            <a:r>
              <a:rPr sz="1100" b="1" i="0">
                <a:solidFill>
                  <a:srgbClr val="03376B"/>
                </a:solidFill>
                <a:latin typeface="Sora"/>
              </a:rPr>
              <a:t>Bem-vindo à HLS, na comunidade de outras especialidades da saúde.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Você vai encontrar conversas sobre organização do trabalho, atualização e avaliação de novas soluções. Cada aplicação precisa considerar a realidade da sua profissão.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As publicações são feitas pela equipe HLS. Você pode participar pelas enquetes e reações disponíveis, no seu ritmo.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E3238"/>
                </a:solidFill>
                <a:latin typeface="Sora"/>
              </a:rPr>
              <a:t>📌 Comece observando uma dúvida que se repete no seu trabalho. Vamos trazer perguntas úteis para analisar situações como essa.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C01 · Enquete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seg 05/10 · 12:30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Qual parte da rotina da clínica merece atenção primeiro?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4022011"/>
          </a:xfrm>
          <a:prstGeom prst="round2DiagRect">
            <a:avLst>
              <a:gd name="adj1" fmla="val 4850"/>
              <a:gd name="adj2" fmla="val 909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175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📍 </a:t>
            </a:r>
            <a:r>
              <a:rPr sz="1050" b="1" i="0">
                <a:solidFill>
                  <a:srgbClr val="03376B"/>
                </a:solidFill>
                <a:latin typeface="Sora"/>
              </a:rPr>
              <a:t>Qual parte da rotina da clínica merece atenção primeiro?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Antes de abrir as pautas de outubro, queremos entender onde as decisões estão pesando mais para os médicos que estão aqui.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Escolha uma opção na enquete abaixo.</a:t>
            </a:r>
            <a:r>
              <a:rPr sz="1050" b="0" i="0">
                <a:solidFill>
                  <a:srgbClr val="2E3238"/>
                </a:solidFill>
                <a:latin typeface="Sora"/>
              </a:rPr>
              <a:t> Vamos usar esse sinal para ajustar os exemplos das próximas mensagens.</a:t>
            </a:r>
          </a:p>
        </p:txBody>
      </p:sp>
      <p:sp>
        <p:nvSpPr>
          <p:cNvPr id="9" name="Enquete"/>
          <p:cNvSpPr/>
          <p:nvPr/>
        </p:nvSpPr>
        <p:spPr>
          <a:xfrm>
            <a:off x="1030224" y="3809048"/>
            <a:ext cx="4693920" cy="1848109"/>
          </a:xfrm>
          <a:prstGeom prst="round2DiagRect">
            <a:avLst>
              <a:gd name="adj1" fmla="val 5937"/>
              <a:gd name="adj2" fmla="val 1319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7488" y="3955352"/>
            <a:ext cx="42793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165BB"/>
                </a:solidFill>
                <a:latin typeface="Sora"/>
              </a:rPr>
              <a:t>ENQUETE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488" y="4199192"/>
            <a:ext cx="4279392" cy="218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Qual tema merece atenção primeiro na rotina da clínica?</a:t>
            </a:r>
          </a:p>
        </p:txBody>
      </p:sp>
      <p:sp>
        <p:nvSpPr>
          <p:cNvPr id="12" name="Opção"/>
          <p:cNvSpPr/>
          <p:nvPr/>
        </p:nvSpPr>
        <p:spPr>
          <a:xfrm>
            <a:off x="1237488" y="4491449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42288" y="4478190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Clareza no contato com pacientes</a:t>
            </a:r>
          </a:p>
        </p:txBody>
      </p:sp>
      <p:sp>
        <p:nvSpPr>
          <p:cNvPr id="14" name="Opção"/>
          <p:cNvSpPr/>
          <p:nvPr/>
        </p:nvSpPr>
        <p:spPr>
          <a:xfrm>
            <a:off x="1237488" y="4749615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42288" y="4736356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Decisões e responsabilidades da equipe</a:t>
            </a:r>
          </a:p>
        </p:txBody>
      </p:sp>
      <p:sp>
        <p:nvSpPr>
          <p:cNvPr id="16" name="Opção"/>
          <p:cNvSpPr/>
          <p:nvPr/>
        </p:nvSpPr>
        <p:spPr>
          <a:xfrm>
            <a:off x="1237488" y="5007780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2288" y="4994521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Avaliação de novas tecnologias</a:t>
            </a:r>
          </a:p>
        </p:txBody>
      </p:sp>
      <p:sp>
        <p:nvSpPr>
          <p:cNvPr id="18" name="Opção"/>
          <p:cNvSpPr/>
          <p:nvPr/>
        </p:nvSpPr>
        <p:spPr>
          <a:xfrm>
            <a:off x="1237488" y="5265946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42288" y="5252687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Organização das prioridades</a:t>
            </a:r>
          </a:p>
        </p:txBody>
      </p:sp>
      <p:sp>
        <p:nvSpPr>
          <p:cNvPr id="20" name="outras especialidades"/>
          <p:cNvSpPr/>
          <p:nvPr/>
        </p:nvSpPr>
        <p:spPr>
          <a:xfrm>
            <a:off x="6199632" y="1987296"/>
            <a:ext cx="5230368" cy="4022011"/>
          </a:xfrm>
          <a:prstGeom prst="round2DiagRect">
            <a:avLst>
              <a:gd name="adj1" fmla="val 4850"/>
              <a:gd name="adj2" fmla="val 909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22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856" y="2548128"/>
            <a:ext cx="4693920" cy="1175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📍 </a:t>
            </a:r>
            <a:r>
              <a:rPr sz="1050" b="1" i="0">
                <a:solidFill>
                  <a:srgbClr val="03376B"/>
                </a:solidFill>
                <a:latin typeface="Sora"/>
              </a:rPr>
              <a:t>Qual parte da sua rotina profissional merece atenção primeiro?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 comunidade reúne áreas diferentes da saúde. Queremos entender quais desafios aparecem no seu trabalho para escolher exemplos que façam sentido por aqui.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Escolha uma opção na enquete abaixo.</a:t>
            </a:r>
          </a:p>
        </p:txBody>
      </p:sp>
      <p:sp>
        <p:nvSpPr>
          <p:cNvPr id="24" name="Enquete"/>
          <p:cNvSpPr/>
          <p:nvPr/>
        </p:nvSpPr>
        <p:spPr>
          <a:xfrm>
            <a:off x="6467856" y="3809048"/>
            <a:ext cx="4693920" cy="2029572"/>
          </a:xfrm>
          <a:prstGeom prst="round2DiagRect">
            <a:avLst>
              <a:gd name="adj1" fmla="val 5406"/>
              <a:gd name="adj2" fmla="val 1201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955352"/>
            <a:ext cx="42793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165BB"/>
                </a:solidFill>
                <a:latin typeface="Sora"/>
              </a:rPr>
              <a:t>ENQUETE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99192"/>
            <a:ext cx="4279392" cy="3995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Qual tema merece atenção primeiro na sua rotina profissional?</a:t>
            </a:r>
          </a:p>
        </p:txBody>
      </p:sp>
      <p:sp>
        <p:nvSpPr>
          <p:cNvPr id="27" name="Opção"/>
          <p:cNvSpPr/>
          <p:nvPr/>
        </p:nvSpPr>
        <p:spPr>
          <a:xfrm>
            <a:off x="6675120" y="4672912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9920" y="4659653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Clareza no contato antes do atendimento</a:t>
            </a:r>
          </a:p>
        </p:txBody>
      </p:sp>
      <p:sp>
        <p:nvSpPr>
          <p:cNvPr id="29" name="Opção"/>
          <p:cNvSpPr/>
          <p:nvPr/>
        </p:nvSpPr>
        <p:spPr>
          <a:xfrm>
            <a:off x="6675120" y="4931077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9920" y="4917818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Decisões e responsabilidades da equipe</a:t>
            </a:r>
          </a:p>
        </p:txBody>
      </p:sp>
      <p:sp>
        <p:nvSpPr>
          <p:cNvPr id="31" name="Opção"/>
          <p:cNvSpPr/>
          <p:nvPr/>
        </p:nvSpPr>
        <p:spPr>
          <a:xfrm>
            <a:off x="6675120" y="5189243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9920" y="5175984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Avaliação de novas tecnologias</a:t>
            </a:r>
          </a:p>
        </p:txBody>
      </p:sp>
      <p:sp>
        <p:nvSpPr>
          <p:cNvPr id="33" name="Opção"/>
          <p:cNvSpPr/>
          <p:nvPr/>
        </p:nvSpPr>
        <p:spPr>
          <a:xfrm>
            <a:off x="6675120" y="5447408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9920" y="5434150"/>
            <a:ext cx="3962400" cy="2093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Organização das prioridades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C02 · Reação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qua 07/10 · 12:30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O paciente ainda precisa perguntar onde, quando ou como chegar?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2800909"/>
          </a:xfrm>
          <a:prstGeom prst="round2DiagRect">
            <a:avLst>
              <a:gd name="adj1" fmla="val 6964"/>
              <a:gd name="adj2" fmla="val 130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9840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📋 </a:t>
            </a:r>
            <a:r>
              <a:rPr sz="1050" b="1" i="0">
                <a:solidFill>
                  <a:srgbClr val="03376B"/>
                </a:solidFill>
                <a:latin typeface="Sora"/>
              </a:rPr>
              <a:t>O paciente ainda precisa perguntar onde, quando ou como chegar?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Pegue a confirmação enviada pela clínica e confira: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horário e endereço completos;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orientações de preparo, quando houver, validadas pelo responsável;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canal para tirar dúvidas.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 informação precisa fazer sentido para quem está chegando pela primeira vez.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Reaja com 🔎 se vale revisar essa mensagem com a equipe.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1987296"/>
            <a:ext cx="5230368" cy="2800909"/>
          </a:xfrm>
          <a:prstGeom prst="round2DiagRect">
            <a:avLst>
              <a:gd name="adj1" fmla="val 6964"/>
              <a:gd name="adj2" fmla="val 130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48128"/>
            <a:ext cx="4693920" cy="19840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📋 </a:t>
            </a:r>
            <a:r>
              <a:rPr sz="1050" b="1" i="0">
                <a:solidFill>
                  <a:srgbClr val="03376B"/>
                </a:solidFill>
                <a:latin typeface="Sora"/>
              </a:rPr>
              <a:t>Quem vai ao atendimento encontra as informações em uma única mensagem?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Confira o contato que sua equipe envia: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horário e local completos;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orientações pertinentes à sua área, validadas pelo responsável;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canal para tirar dúvidas.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Leia como se fosse o seu primeiro contato com o serviço.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Reaja com 🔎 se vale revisar essa mensagem com a equipe.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C03 · Enquete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sáb 10/10 · 10:30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Uma decisão administrativa chega ao médico várias vezes na semana.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4102181"/>
          </a:xfrm>
          <a:prstGeom prst="round2DiagRect">
            <a:avLst>
              <a:gd name="adj1" fmla="val 4755"/>
              <a:gd name="adj2" fmla="val 89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1315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👥 </a:t>
            </a:r>
            <a:r>
              <a:rPr sz="1000" b="1" i="0">
                <a:solidFill>
                  <a:srgbClr val="03376B"/>
                </a:solidFill>
                <a:latin typeface="Sora"/>
              </a:rPr>
              <a:t>Uma decisão administrativa chega ao médico várias vezes na semana.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Às vezes falta um critério. Em outras situações, ninguém sabe quem pode decidir ou quando deve encaminhar.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Pensando na sua clínica, </a:t>
            </a:r>
            <a:r>
              <a:rPr sz="1000" b="1" i="0">
                <a:solidFill>
                  <a:srgbClr val="03376B"/>
                </a:solidFill>
                <a:latin typeface="Sora"/>
              </a:rPr>
              <a:t>qual situação aparece com mais frequência?</a:t>
            </a:r>
            <a:r>
              <a:rPr sz="1000" b="0" i="0">
                <a:solidFill>
                  <a:srgbClr val="2E3238"/>
                </a:solidFill>
                <a:latin typeface="Sora"/>
              </a:rPr>
              <a:t> Escolha uma opção na enquete.</a:t>
            </a:r>
          </a:p>
        </p:txBody>
      </p:sp>
      <p:sp>
        <p:nvSpPr>
          <p:cNvPr id="9" name="Enquete"/>
          <p:cNvSpPr/>
          <p:nvPr/>
        </p:nvSpPr>
        <p:spPr>
          <a:xfrm>
            <a:off x="1030224" y="3765042"/>
            <a:ext cx="4693920" cy="1977725"/>
          </a:xfrm>
          <a:prstGeom prst="round2DiagRect">
            <a:avLst>
              <a:gd name="adj1" fmla="val 5548"/>
              <a:gd name="adj2" fmla="val 1232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7488" y="3911346"/>
            <a:ext cx="42793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165BB"/>
                </a:solidFill>
                <a:latin typeface="Sora"/>
              </a:rPr>
              <a:t>ENQUETE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488" y="4155186"/>
            <a:ext cx="4279392" cy="3822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Nas decisões administrativas da clínica, qual dificuldade mais se repete?</a:t>
            </a:r>
          </a:p>
        </p:txBody>
      </p:sp>
      <p:sp>
        <p:nvSpPr>
          <p:cNvPr id="12" name="Opção"/>
          <p:cNvSpPr/>
          <p:nvPr/>
        </p:nvSpPr>
        <p:spPr>
          <a:xfrm>
            <a:off x="1237488" y="4607303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42288" y="4598365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Falta um critério para decidir</a:t>
            </a:r>
          </a:p>
        </p:txBody>
      </p:sp>
      <p:sp>
        <p:nvSpPr>
          <p:cNvPr id="14" name="Opção"/>
          <p:cNvSpPr/>
          <p:nvPr/>
        </p:nvSpPr>
        <p:spPr>
          <a:xfrm>
            <a:off x="1237488" y="4856828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42288" y="4847890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Não está claro quem decide</a:t>
            </a:r>
          </a:p>
        </p:txBody>
      </p:sp>
      <p:sp>
        <p:nvSpPr>
          <p:cNvPr id="16" name="Opção"/>
          <p:cNvSpPr/>
          <p:nvPr/>
        </p:nvSpPr>
        <p:spPr>
          <a:xfrm>
            <a:off x="1237488" y="5106352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2288" y="5097414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Não está claro quando encaminhar</a:t>
            </a:r>
          </a:p>
        </p:txBody>
      </p:sp>
      <p:sp>
        <p:nvSpPr>
          <p:cNvPr id="18" name="Opção"/>
          <p:cNvSpPr/>
          <p:nvPr/>
        </p:nvSpPr>
        <p:spPr>
          <a:xfrm>
            <a:off x="1237488" y="5355877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42288" y="5346939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Esses pontos já estão definidos</a:t>
            </a:r>
          </a:p>
        </p:txBody>
      </p:sp>
      <p:sp>
        <p:nvSpPr>
          <p:cNvPr id="20" name="outras especialidades"/>
          <p:cNvSpPr/>
          <p:nvPr/>
        </p:nvSpPr>
        <p:spPr>
          <a:xfrm>
            <a:off x="6199632" y="1987296"/>
            <a:ext cx="5230368" cy="4102181"/>
          </a:xfrm>
          <a:prstGeom prst="round2DiagRect">
            <a:avLst>
              <a:gd name="adj1" fmla="val 4755"/>
              <a:gd name="adj2" fmla="val 89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22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856" y="2548128"/>
            <a:ext cx="4693920" cy="1307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👥 </a:t>
            </a:r>
            <a:r>
              <a:rPr sz="1000" b="1" i="0">
                <a:solidFill>
                  <a:srgbClr val="03376B"/>
                </a:solidFill>
                <a:latin typeface="Sora"/>
              </a:rPr>
              <a:t>Uma decisão de rotina volta para a mesma pessoa várias vezes na semana.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 equipe pode estar sem um critério, sem responsável definido ou sem clareza sobre quando encaminhar.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Pensando no seu trabalho, </a:t>
            </a:r>
            <a:r>
              <a:rPr sz="1000" b="1" i="0">
                <a:solidFill>
                  <a:srgbClr val="03376B"/>
                </a:solidFill>
                <a:latin typeface="Sora"/>
              </a:rPr>
              <a:t>qual situação aparece com mais frequência?</a:t>
            </a:r>
            <a:r>
              <a:rPr sz="1000" b="0" i="0">
                <a:solidFill>
                  <a:srgbClr val="2E3238"/>
                </a:solidFill>
                <a:latin typeface="Sora"/>
              </a:rPr>
              <a:t> Escolha uma opção na enquete.</a:t>
            </a:r>
          </a:p>
        </p:txBody>
      </p:sp>
      <p:sp>
        <p:nvSpPr>
          <p:cNvPr id="24" name="Enquete"/>
          <p:cNvSpPr/>
          <p:nvPr/>
        </p:nvSpPr>
        <p:spPr>
          <a:xfrm>
            <a:off x="6467856" y="3941064"/>
            <a:ext cx="4693920" cy="1977725"/>
          </a:xfrm>
          <a:prstGeom prst="round2DiagRect">
            <a:avLst>
              <a:gd name="adj1" fmla="val 5548"/>
              <a:gd name="adj2" fmla="val 1232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87368"/>
            <a:ext cx="42793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165BB"/>
                </a:solidFill>
                <a:latin typeface="Sora"/>
              </a:rPr>
              <a:t>ENQUETE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31208"/>
            <a:ext cx="4279392" cy="3822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Nas decisões de rotina da sua equipe, qual dificuldade mais se repete?</a:t>
            </a:r>
          </a:p>
        </p:txBody>
      </p:sp>
      <p:sp>
        <p:nvSpPr>
          <p:cNvPr id="27" name="Opção"/>
          <p:cNvSpPr/>
          <p:nvPr/>
        </p:nvSpPr>
        <p:spPr>
          <a:xfrm>
            <a:off x="6675120" y="4783325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9920" y="4774387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Falta um critério para decidir</a:t>
            </a:r>
          </a:p>
        </p:txBody>
      </p:sp>
      <p:sp>
        <p:nvSpPr>
          <p:cNvPr id="29" name="Opção"/>
          <p:cNvSpPr/>
          <p:nvPr/>
        </p:nvSpPr>
        <p:spPr>
          <a:xfrm>
            <a:off x="6675120" y="5032850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9920" y="5023912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Não está claro quem decide</a:t>
            </a:r>
          </a:p>
        </p:txBody>
      </p:sp>
      <p:sp>
        <p:nvSpPr>
          <p:cNvPr id="31" name="Opção"/>
          <p:cNvSpPr/>
          <p:nvPr/>
        </p:nvSpPr>
        <p:spPr>
          <a:xfrm>
            <a:off x="6675120" y="5282374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9920" y="5273436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Não está claro quando encaminhar</a:t>
            </a:r>
          </a:p>
        </p:txBody>
      </p:sp>
      <p:sp>
        <p:nvSpPr>
          <p:cNvPr id="33" name="Opção"/>
          <p:cNvSpPr/>
          <p:nvPr/>
        </p:nvSpPr>
        <p:spPr>
          <a:xfrm>
            <a:off x="6675120" y="5531899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9920" y="5522961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Esses pontos já estão definidos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C04 · Prática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qua 14/10 · 12:30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“Minha equipe está sobrecarregada” ainda deixa muita coisa em aberto.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2610409"/>
          </a:xfrm>
          <a:prstGeom prst="round2DiagRect">
            <a:avLst>
              <a:gd name="adj1" fmla="val 7472"/>
              <a:gd name="adj2" fmla="val 140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7935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💬 </a:t>
            </a:r>
            <a:r>
              <a:rPr sz="1050" b="1" i="0">
                <a:solidFill>
                  <a:srgbClr val="03376B"/>
                </a:solidFill>
                <a:latin typeface="Sora"/>
              </a:rPr>
              <a:t>“Minha equipe está sobrecarregada” ainda deixa muita coisa em aberto.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Para conversar com outro médico sobre isso, descreva o momento em que o trabalho trava, quem precisa decidir e o que já foi tentado.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Esse contexto dá ao colega uma pergunta concreta para examinar com você.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Escolha uma situação de gestão e tente descrevê-la nessas três partes.</a:t>
            </a:r>
            <a:r>
              <a:rPr sz="1050" b="0" i="0">
                <a:solidFill>
                  <a:srgbClr val="2E3238"/>
                </a:solidFill>
                <a:latin typeface="Sora"/>
              </a:rPr>
              <a:t> É um começo possível para uma troca útil entre pares.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1987296"/>
            <a:ext cx="5230368" cy="2610409"/>
          </a:xfrm>
          <a:prstGeom prst="round2DiagRect">
            <a:avLst>
              <a:gd name="adj1" fmla="val 7472"/>
              <a:gd name="adj2" fmla="val 140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48128"/>
            <a:ext cx="4693920" cy="14238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💬 </a:t>
            </a:r>
            <a:r>
              <a:rPr sz="1050" b="1" i="0">
                <a:solidFill>
                  <a:srgbClr val="03376B"/>
                </a:solidFill>
                <a:latin typeface="Sora"/>
              </a:rPr>
              <a:t>“O trabalho está travando” ainda deixa muita coisa em aberto.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Para conversar com outro profissional, descreva em que momento isso acontece, quem precisa decidir e o que já foi tentado.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Esse contexto ajuda a pessoa a contribuir respeitando as particularidades da sua área.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Escolha uma situação e tente descrevê-la nessas três partes.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C05 · Prática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sáb 17/10 · 10:30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Pegue uma decisão administrativa que sempre volta ao médico.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3170555"/>
          </a:xfrm>
          <a:prstGeom prst="round2DiagRect">
            <a:avLst>
              <a:gd name="adj1" fmla="val 6152"/>
              <a:gd name="adj2" fmla="val 1153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23536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📌 </a:t>
            </a:r>
            <a:r>
              <a:rPr sz="1050" b="1" i="0">
                <a:solidFill>
                  <a:srgbClr val="03376B"/>
                </a:solidFill>
                <a:latin typeface="Sora"/>
              </a:rPr>
              <a:t>Pegue uma decisão administrativa que sempre volta ao médico.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Descreva com a equipe: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quem pode conduzir;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qual informação precisa conferir;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em que situação deve encaminhar.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Depois, peça à pessoa que explique como agiria em um exemplo concreto. A conversa mostra onde o combinado ainda está pouco claro.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Comece por uma decisão simples, dentro das responsabilidades de cada função.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1987296"/>
            <a:ext cx="5230368" cy="3170555"/>
          </a:xfrm>
          <a:prstGeom prst="round2DiagRect">
            <a:avLst>
              <a:gd name="adj1" fmla="val 6152"/>
              <a:gd name="adj2" fmla="val 1153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48128"/>
            <a:ext cx="4693920" cy="21688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📌 </a:t>
            </a:r>
            <a:r>
              <a:rPr sz="1050" b="1" i="0">
                <a:solidFill>
                  <a:srgbClr val="03376B"/>
                </a:solidFill>
                <a:latin typeface="Sora"/>
              </a:rPr>
              <a:t>Pegue uma tarefa que sempre volta para a mesma pessoa.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Descreva com a equipe: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quem pode conduzir;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qual informação precisa conferir;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em que situação deve encaminhar.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Depois, peça à pessoa que explique como agiria em um exemplo concreto.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Comece por uma tarefa administrativa, respeitando as atribuições de cada profissional.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C06 · Reação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qua 21/10 · 12:30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O que a clínica precisará para colocar uma nova tecnologia em uso?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2985732"/>
          </a:xfrm>
          <a:prstGeom prst="round2DiagRect">
            <a:avLst>
              <a:gd name="adj1" fmla="val 6533"/>
              <a:gd name="adj2" fmla="val 12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21688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🔎 </a:t>
            </a:r>
            <a:r>
              <a:rPr sz="1050" b="1" i="0">
                <a:solidFill>
                  <a:srgbClr val="03376B"/>
                </a:solidFill>
                <a:latin typeface="Sora"/>
              </a:rPr>
              <a:t>O que a clínica precisará para colocar uma nova tecnologia em uso?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Além de avaliar a evidência e a adequação clínica, vale levar três perguntas à equipe: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qual treinamento será necessário?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que custos continuam depois da contratação?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como funciona o suporte quando há um problema?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Pedir essas condições por escrito ajuda a comparar propostas.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Reaja com 🔎 se suporte e manutenção merecem uma conversa mais detalhada por aqui.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1987296"/>
            <a:ext cx="5230368" cy="2985732"/>
          </a:xfrm>
          <a:prstGeom prst="round2DiagRect">
            <a:avLst>
              <a:gd name="adj1" fmla="val 6533"/>
              <a:gd name="adj2" fmla="val 1225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48128"/>
            <a:ext cx="4693920" cy="21688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🔎 </a:t>
            </a:r>
            <a:r>
              <a:rPr sz="1050" b="1" i="0">
                <a:solidFill>
                  <a:srgbClr val="03376B"/>
                </a:solidFill>
                <a:latin typeface="Sora"/>
              </a:rPr>
              <a:t>O que sua equipe precisará para colocar uma nova tecnologia em uso?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Considere a adequação à sua área e leve três perguntas à avaliação: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qual treinamento será necessário?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que custos continuam depois da contratação?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• como funciona o suporte quando há um problema?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Pedir essas condições por escrito ajuda a comparar propostas.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Reaja com 🔎 se suporte e manutenção merecem uma conversa mais detalhada por aqui.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C07 · Enquete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sáb 24/10 · 10:30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Treinamento, suporte e custos continuam depois da contratação.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4102181"/>
          </a:xfrm>
          <a:prstGeom prst="round2DiagRect">
            <a:avLst>
              <a:gd name="adj1" fmla="val 4755"/>
              <a:gd name="adj2" fmla="val 89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307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📋 </a:t>
            </a:r>
            <a:r>
              <a:rPr sz="1000" b="1" i="0">
                <a:solidFill>
                  <a:srgbClr val="03376B"/>
                </a:solidFill>
                <a:latin typeface="Sora"/>
              </a:rPr>
              <a:t>Treinamento, suporte e custos continuam depois da contratação.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Ao comparar tecnologias, peça ao fornecedor que detalhe essas condições. A equipe da clínica precisa entender o trabalho que virá depois da decisão.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Para as próximas pautas, </a:t>
            </a:r>
            <a:r>
              <a:rPr sz="1000" b="1" i="0">
                <a:solidFill>
                  <a:srgbClr val="03376B"/>
                </a:solidFill>
                <a:latin typeface="Sora"/>
              </a:rPr>
              <a:t>qual tema você gostaria de aprofundar primeiro?</a:t>
            </a:r>
            <a:r>
              <a:rPr sz="1000" b="0" i="0">
                <a:solidFill>
                  <a:srgbClr val="2E3238"/>
                </a:solidFill>
                <a:latin typeface="Sora"/>
              </a:rPr>
              <a:t> Vote na enquete abaixo.</a:t>
            </a:r>
          </a:p>
        </p:txBody>
      </p:sp>
      <p:sp>
        <p:nvSpPr>
          <p:cNvPr id="9" name="Enquete"/>
          <p:cNvSpPr/>
          <p:nvPr/>
        </p:nvSpPr>
        <p:spPr>
          <a:xfrm>
            <a:off x="1030224" y="3941064"/>
            <a:ext cx="4693920" cy="1977725"/>
          </a:xfrm>
          <a:prstGeom prst="round2DiagRect">
            <a:avLst>
              <a:gd name="adj1" fmla="val 5548"/>
              <a:gd name="adj2" fmla="val 1232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7488" y="4087368"/>
            <a:ext cx="42793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165BB"/>
                </a:solidFill>
                <a:latin typeface="Sora"/>
              </a:rPr>
              <a:t>ENQUETE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488" y="4331208"/>
            <a:ext cx="4279392" cy="3822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Qual tema deve ganhar espaço nas próximas pautas para médicos?</a:t>
            </a:r>
          </a:p>
        </p:txBody>
      </p:sp>
      <p:sp>
        <p:nvSpPr>
          <p:cNvPr id="12" name="Opção"/>
          <p:cNvSpPr/>
          <p:nvPr/>
        </p:nvSpPr>
        <p:spPr>
          <a:xfrm>
            <a:off x="1237488" y="4783325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42288" y="4774387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Comparar propostas de tecnologia</a:t>
            </a:r>
          </a:p>
        </p:txBody>
      </p:sp>
      <p:sp>
        <p:nvSpPr>
          <p:cNvPr id="14" name="Opção"/>
          <p:cNvSpPr/>
          <p:nvPr/>
        </p:nvSpPr>
        <p:spPr>
          <a:xfrm>
            <a:off x="1237488" y="5032850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42288" y="5023912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Avaliar treinamento e suporte</a:t>
            </a:r>
          </a:p>
        </p:txBody>
      </p:sp>
      <p:sp>
        <p:nvSpPr>
          <p:cNvPr id="16" name="Opção"/>
          <p:cNvSpPr/>
          <p:nvPr/>
        </p:nvSpPr>
        <p:spPr>
          <a:xfrm>
            <a:off x="1237488" y="5282374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2288" y="5273436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Organizar decisões da equipe</a:t>
            </a:r>
          </a:p>
        </p:txBody>
      </p:sp>
      <p:sp>
        <p:nvSpPr>
          <p:cNvPr id="18" name="Opção"/>
          <p:cNvSpPr/>
          <p:nvPr/>
        </p:nvSpPr>
        <p:spPr>
          <a:xfrm>
            <a:off x="1237488" y="5531899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42288" y="5522961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Melhorar a experiência de atendimento</a:t>
            </a:r>
          </a:p>
        </p:txBody>
      </p:sp>
      <p:sp>
        <p:nvSpPr>
          <p:cNvPr id="20" name="outras especialidades"/>
          <p:cNvSpPr/>
          <p:nvPr/>
        </p:nvSpPr>
        <p:spPr>
          <a:xfrm>
            <a:off x="6199632" y="1987296"/>
            <a:ext cx="5230368" cy="4102181"/>
          </a:xfrm>
          <a:prstGeom prst="round2DiagRect">
            <a:avLst>
              <a:gd name="adj1" fmla="val 4755"/>
              <a:gd name="adj2" fmla="val 891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22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856" y="2548128"/>
            <a:ext cx="4693920" cy="1307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📋 </a:t>
            </a:r>
            <a:r>
              <a:rPr sz="1000" b="1" i="0">
                <a:solidFill>
                  <a:srgbClr val="03376B"/>
                </a:solidFill>
                <a:latin typeface="Sora"/>
              </a:rPr>
              <a:t>Treinamento, suporte e custos continuam depois da contratação.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Ao comparar soluções para sua área, peça ao fornecedor que detalhe essas condições. Isso ajuda a entender o trabalho que virá depois da decisão.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2E3238"/>
                </a:solidFill>
                <a:latin typeface="Sora"/>
              </a:rPr>
              <a:t>Para as próximas pautas, </a:t>
            </a:r>
            <a:r>
              <a:rPr sz="1000" b="1" i="0">
                <a:solidFill>
                  <a:srgbClr val="03376B"/>
                </a:solidFill>
                <a:latin typeface="Sora"/>
              </a:rPr>
              <a:t>qual tema você gostaria de aprofundar primeiro?</a:t>
            </a:r>
            <a:r>
              <a:rPr sz="1000" b="0" i="0">
                <a:solidFill>
                  <a:srgbClr val="2E3238"/>
                </a:solidFill>
                <a:latin typeface="Sora"/>
              </a:rPr>
              <a:t> Vote na enquete abaixo.</a:t>
            </a:r>
          </a:p>
        </p:txBody>
      </p:sp>
      <p:sp>
        <p:nvSpPr>
          <p:cNvPr id="24" name="Enquete"/>
          <p:cNvSpPr/>
          <p:nvPr/>
        </p:nvSpPr>
        <p:spPr>
          <a:xfrm>
            <a:off x="6467856" y="3941064"/>
            <a:ext cx="4693920" cy="1977725"/>
          </a:xfrm>
          <a:prstGeom prst="round2DiagRect">
            <a:avLst>
              <a:gd name="adj1" fmla="val 5548"/>
              <a:gd name="adj2" fmla="val 1232"/>
            </a:avLst>
          </a:prstGeom>
          <a:solidFill>
            <a:srgbClr val="EEF5FD"/>
          </a:solidFill>
          <a:ln w="9525">
            <a:solidFill>
              <a:srgbClr val="A9D2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87368"/>
            <a:ext cx="42793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0165BB"/>
                </a:solidFill>
                <a:latin typeface="Sora"/>
              </a:rPr>
              <a:t>ENQUETE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31208"/>
            <a:ext cx="4279392" cy="3822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3376B"/>
                </a:solidFill>
                <a:latin typeface="Sora"/>
              </a:rPr>
              <a:t>Qual tema deve ganhar espaço nas próximas pautas para sua área?</a:t>
            </a:r>
          </a:p>
        </p:txBody>
      </p:sp>
      <p:sp>
        <p:nvSpPr>
          <p:cNvPr id="27" name="Opção"/>
          <p:cNvSpPr/>
          <p:nvPr/>
        </p:nvSpPr>
        <p:spPr>
          <a:xfrm>
            <a:off x="6675120" y="4783325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9920" y="4774387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Comparar propostas de tecnologia</a:t>
            </a:r>
          </a:p>
        </p:txBody>
      </p:sp>
      <p:sp>
        <p:nvSpPr>
          <p:cNvPr id="29" name="Opção"/>
          <p:cNvSpPr/>
          <p:nvPr/>
        </p:nvSpPr>
        <p:spPr>
          <a:xfrm>
            <a:off x="6675120" y="5032850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9920" y="5023912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Avaliar treinamento e suporte</a:t>
            </a:r>
          </a:p>
        </p:txBody>
      </p:sp>
      <p:sp>
        <p:nvSpPr>
          <p:cNvPr id="31" name="Opção"/>
          <p:cNvSpPr/>
          <p:nvPr/>
        </p:nvSpPr>
        <p:spPr>
          <a:xfrm>
            <a:off x="6675120" y="5282374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9920" y="5273436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Organizar decisões da equipe</a:t>
            </a:r>
          </a:p>
        </p:txBody>
      </p:sp>
      <p:sp>
        <p:nvSpPr>
          <p:cNvPr id="33" name="Opção"/>
          <p:cNvSpPr/>
          <p:nvPr/>
        </p:nvSpPr>
        <p:spPr>
          <a:xfrm>
            <a:off x="6675120" y="5531899"/>
            <a:ext cx="158496" cy="158496"/>
          </a:xfrm>
          <a:prstGeom prst="ellipse">
            <a:avLst/>
          </a:prstGeom>
          <a:noFill/>
          <a:ln w="12700">
            <a:solidFill>
              <a:srgbClr val="016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9920" y="5522961"/>
            <a:ext cx="3962400" cy="2007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E3238"/>
                </a:solidFill>
                <a:latin typeface="Sora"/>
              </a:rPr>
              <a:t>Melhorar a experiência de atendimento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C08 · Convite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qua 28/10 · 12:30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Tem um colega médico que participaria bem dessas conversas?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2489086"/>
          </a:xfrm>
          <a:prstGeom prst="round2DiagRect">
            <a:avLst>
              <a:gd name="adj1" fmla="val 7837"/>
              <a:gd name="adj2" fmla="val 1469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4238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🤝 </a:t>
            </a:r>
            <a:r>
              <a:rPr sz="1050" b="1" i="0">
                <a:solidFill>
                  <a:srgbClr val="03376B"/>
                </a:solidFill>
                <a:latin typeface="Sora"/>
              </a:rPr>
              <a:t>Tem um colega médico que participaria bem dessas conversas?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Em outubro, trouxemos perguntas sobre atendimento, decisões da equipe e avaliação de tecnologias. A HLS reúne conteúdo e especialistas para continuar examinando esses temas.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Encaminhe a página a esse colega: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8A5A00"/>
                </a:solidFill>
                <a:latin typeface="Sora"/>
              </a:rPr>
              <a:t>[LINK DE ENTRADA VALIDADO • MÉDICOS]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1987296"/>
            <a:ext cx="5230368" cy="2489086"/>
          </a:xfrm>
          <a:prstGeom prst="round2DiagRect">
            <a:avLst>
              <a:gd name="adj1" fmla="val 7837"/>
              <a:gd name="adj2" fmla="val 1469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48128"/>
            <a:ext cx="4693920" cy="1672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🤝 </a:t>
            </a:r>
            <a:r>
              <a:rPr sz="1050" b="1" i="0">
                <a:solidFill>
                  <a:srgbClr val="03376B"/>
                </a:solidFill>
                <a:latin typeface="Sora"/>
              </a:rPr>
              <a:t>Tem alguém da sua área que participaria bem dessas conversas?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Em outubro, trouxemos perguntas sobre atendimento, organização da equipe e avaliação de novas soluções.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 página identifica a categoria profissional e encaminha para a comunidade correspondente.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Encaminhe a página a esse colega: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8A5A00"/>
                </a:solidFill>
                <a:latin typeface="Sora"/>
              </a:rPr>
              <a:t>[LINK DE ENTRADA VALIDADO • OUTRAS ÁREAS]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C09 · Reação</a:t>
            </a:r>
          </a:p>
        </p:txBody>
      </p:sp>
      <p:sp>
        <p:nvSpPr>
          <p:cNvPr id="3" name="Rótulo"/>
          <p:cNvSpPr txBox="1"/>
          <p:nvPr/>
        </p:nvSpPr>
        <p:spPr>
          <a:xfrm>
            <a:off x="762000" y="670560"/>
            <a:ext cx="8534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65BB"/>
                </a:solidFill>
                <a:latin typeface="Montserrat Alternates"/>
              </a:rPr>
              <a:t>.anexo · disparo · sáb 31/10 · 10:30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762000" y="1572768"/>
            <a:ext cx="9997440" cy="316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Sora"/>
              </a:rPr>
              <a:t>Uma revisão possível para começar novembro.</a:t>
            </a:r>
          </a:p>
        </p:txBody>
      </p:sp>
      <p:sp>
        <p:nvSpPr>
          <p:cNvPr id="5" name="médicos"/>
          <p:cNvSpPr/>
          <p:nvPr/>
        </p:nvSpPr>
        <p:spPr>
          <a:xfrm>
            <a:off x="762000" y="1987296"/>
            <a:ext cx="5230368" cy="2438400"/>
          </a:xfrm>
          <a:prstGeom prst="round2DiagRect">
            <a:avLst>
              <a:gd name="adj1" fmla="val 8000"/>
              <a:gd name="adj2" fmla="val 150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224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.médicos</a:t>
            </a:r>
          </a:p>
        </p:txBody>
      </p:sp>
      <p:sp>
        <p:nvSpPr>
          <p:cNvPr id="7" name="Tag Versão M"/>
          <p:cNvSpPr/>
          <p:nvPr/>
        </p:nvSpPr>
        <p:spPr>
          <a:xfrm>
            <a:off x="4900339" y="2206752"/>
            <a:ext cx="823805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224" y="2548128"/>
            <a:ext cx="4693920" cy="1608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✅ </a:t>
            </a:r>
            <a:r>
              <a:rPr sz="1050" b="1" i="0">
                <a:solidFill>
                  <a:srgbClr val="03376B"/>
                </a:solidFill>
                <a:latin typeface="Sora"/>
              </a:rPr>
              <a:t>Uma revisão possível para começar novembro.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Escolha um ponto da clínica: a informação antes da consulta, uma decisão que volta à liderança ou os critérios usados para avaliar uma tecnologia.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Anote o ajuste, quem precisa participar e quando vocês voltarão ao assunto.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Reaja com ✅ quando tiver escolhido uma rotina para revisar.</a:t>
            </a:r>
          </a:p>
        </p:txBody>
      </p:sp>
      <p:sp>
        <p:nvSpPr>
          <p:cNvPr id="9" name="outras especialidades"/>
          <p:cNvSpPr/>
          <p:nvPr/>
        </p:nvSpPr>
        <p:spPr>
          <a:xfrm>
            <a:off x="6199632" y="1987296"/>
            <a:ext cx="5230368" cy="2438400"/>
          </a:xfrm>
          <a:prstGeom prst="round2DiagRect">
            <a:avLst>
              <a:gd name="adj1" fmla="val 8000"/>
              <a:gd name="adj2" fmla="val 1500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t" rotWithShape="0">
              <a:srgbClr val="03376B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7856" y="2206752"/>
            <a:ext cx="298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165BB"/>
                </a:solidFill>
                <a:latin typeface="Montserrat Alternates"/>
              </a:rPr>
              <a:t>.outras especialidades</a:t>
            </a:r>
          </a:p>
        </p:txBody>
      </p:sp>
      <p:sp>
        <p:nvSpPr>
          <p:cNvPr id="11" name="Tag Versão O"/>
          <p:cNvSpPr/>
          <p:nvPr/>
        </p:nvSpPr>
        <p:spPr>
          <a:xfrm>
            <a:off x="10350204" y="2206752"/>
            <a:ext cx="811572" cy="253746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165BB"/>
                </a:solidFill>
                <a:latin typeface="Sora"/>
              </a:rPr>
              <a:t>Versão 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856" y="2548128"/>
            <a:ext cx="4693920" cy="1608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✅ </a:t>
            </a:r>
            <a:r>
              <a:rPr sz="1050" b="1" i="0">
                <a:solidFill>
                  <a:srgbClr val="03376B"/>
                </a:solidFill>
                <a:latin typeface="Sora"/>
              </a:rPr>
              <a:t>Uma revisão possível para começar novembro.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Escolha um ponto do seu trabalho: a informação antes do atendimento, uma responsabilidade da equipe ou os critérios usados para avaliar uma nova solução.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E3238"/>
                </a:solidFill>
                <a:latin typeface="Sora"/>
              </a:rPr>
              <a:t>Anote o ajuste, quem precisa participar e quando vocês voltarão ao assunto.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3376B"/>
                </a:solidFill>
                <a:latin typeface="Sora"/>
              </a:rPr>
              <a:t>Reaja com ✅ quando tiver escolhido uma rotina para revisar.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Posicione-se com foco e alcance resultados reais.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Planejamento e agenda de outubro · HLS</a:t>
            </a:r>
          </a:p>
        </p:txBody>
      </p:sp>
      <p:sp>
        <p:nvSpPr>
          <p:cNvPr id="4" name="Rótulo"/>
          <p:cNvSpPr txBox="1"/>
          <p:nvPr/>
        </p:nvSpPr>
        <p:spPr>
          <a:xfrm>
            <a:off x="762000" y="2462784"/>
            <a:ext cx="8534400" cy="31699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8E7FA"/>
                </a:solidFill>
                <a:latin typeface="Montserrat Alternates"/>
              </a:rPr>
              <a:t>.alguma dúvida?</a:t>
            </a:r>
          </a:p>
        </p:txBody>
      </p:sp>
      <p:sp>
        <p:nvSpPr>
          <p:cNvPr id="5" name="Versão"/>
          <p:cNvSpPr txBox="1"/>
          <p:nvPr/>
        </p:nvSpPr>
        <p:spPr>
          <a:xfrm>
            <a:off x="6553200" y="6199632"/>
            <a:ext cx="4876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9D2F7"/>
                </a:solidFill>
                <a:latin typeface="Sora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o">
  <a:themeElements>
    <a:clrScheme name="Foco">
      <a:dk1>
        <a:srgbClr val="2E3238"/>
      </a:dk1>
      <a:lt1>
        <a:srgbClr val="FFFFFF"/>
      </a:lt1>
      <a:dk2>
        <a:srgbClr val="03376B"/>
      </a:dk2>
      <a:lt2>
        <a:srgbClr val="E6E9EE"/>
      </a:lt2>
      <a:accent1>
        <a:srgbClr val="0165BB"/>
      </a:accent1>
      <a:accent2>
        <a:srgbClr val="03376B"/>
      </a:accent2>
      <a:accent3>
        <a:srgbClr val="1F7FD4"/>
      </a:accent3>
      <a:accent4>
        <a:srgbClr val="F2D22E"/>
      </a:accent4>
      <a:accent5>
        <a:srgbClr val="1B7F52"/>
      </a:accent5>
      <a:accent6>
        <a:srgbClr val="8A5A00"/>
      </a:accent6>
      <a:hlink>
        <a:srgbClr val="0165BB"/>
      </a:hlink>
      <a:folHlink>
        <a:srgbClr val="034279"/>
      </a:folHlink>
    </a:clrScheme>
    <a:fontScheme name="Office">
      <a:majorFont>
        <a:latin typeface="So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HLS · Planejamento e agenda de outubro de 2026</dc:title>
  <dc:subject>Versão para validação</dc:subject>
  <dc:creator>foco group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